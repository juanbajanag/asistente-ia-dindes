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0117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José Luis · 0:00-0:30
En DINDES una respuesta técnica no vale solo por ser rápida: debe poder demostrar de dónde salió. Hoy, encontrar un antecedente puede implicar revisar carpetas, hojas de cálculo, informes y versiones dispersas. A veces la información existe, pero localizarla y verificarla toma más tiempo que usarla. Nuestra pregunta fue simple: ¿podemos convertir ese conocimiento distribuido en una consulta segura, verificable y realmente útil para quien toma decisiones?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José Luis · 0:30-1:15
El problema no es que falte información; el problema es encontrar la correcta, en la versión correcta y con evidencia. El personal técnico puede invertir tiempo buscando antecedentes, mientras que un dato de inventario exige exactitud y un documento técnico exige contexto. Además, en un entorno institucional no basta con que una IA responda: debemos saber qué fuente usó, cuándo debe abstenerse, quién puede acceder y quién conserva la responsabilidad final. La alternativa actual es combinar búsqueda manual, experiencia del personal y revisión de varias fuentes. Funciona, pero depende mucho del tiempo disponible y del conocimiento de cada persona. Ahí aparece la oportunidad: reducir búsqueda manual sin perder trazabilidad ni control.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Carlos · 1:15-2:15
Nuestra propuesta es el Asistente IA DINDES. Para el personal técnico que necesita consultar antecedentes e inventario, es una solución local de gestión del conocimiento que entrega respuestas con fuentes visibles y consultas estructuradas. A diferencia de una búsqueda manual o de un chatbot genérico, separa dos tipos de problema: cuando la pregunta requiere un dato exacto, usa una ruta determinística; cuando requiere comprender documentos, recupera evidencia y genera una respuesta sustentada. No entrenamos al modelo con los documentos institucionales; usamos recuperación de información para que el conocimiento pueda actualizarse sin volver a entrenar el LLM. La arquitectura principal opera on-premise con Qwen y datos autorizados. La versión pública en Streamlit es una demostración académica con datos sintéticos. Así mantenemos el valor de la IA sin exponer información sensible.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Carlos · 2:15-3:15
La evidencia combina resultados, un caso concreto y un límite honesto. En la evaluación funcional final, el MVP aprobó 13 de 13 casos. Las consultas estructuradas respondieron con alta precisión y una latencia promedio cercana a un milisegundo; las consultas RAG promediaron menos de nueve segundos. Por ejemplo, el sistema identifica que el taladro DEWALT DWD024-B3 tiene stock uno, responde preguntas sobre el Simulador Táctico Submarino citando su fuente y, ante una fragata inexistente, se abstiene en lugar de inventar. La versión cloud reprodujo esos comportamientos para evaluación remota. También probamos robustez: el ruido tipográfico mejoró hasta 97,44 %, pero las consultas telegráficas quedaron en 84,62 %. No forzamos ese escenario ni bajamos indiscriminadamente los umbrales; lo documentamos como limitación y mantenemos la seguridad del sistema. Esa decisión es importante porque una IA útil también debe saber cuándo no responder.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José Luis · 3:15-4:00
La confianza es parte de la solución, no un elemento adicional. Por eso el diseño prioriza procesamiento local, acceso a datos autorizados, fuentes visibles, historial y auditoría. La versión cloud no almacena información institucional sensible; se limita a datos sintéticos o autorizados. Además, cuando la evidencia no es suficiente, el sistema puede abstenerse. Y hay una regla central: la criticidad y la decisión final pertenecen a personal autorizado, no al modelo. También reconocemos que el corpus puede quedar desactualizado y que una respuesta aparentemente correcta debe verificarse antes de una decisión relevante. Estas medidas reducen el riesgo de sobreconfianza y permiten usar la IA como apoyo, no como sustituto del criterio profesional.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Carlos · 4:00-4:40
El impacto esperado es menos tiempo buscando antecedentes, mayor trazabilidad y decisiones mejor sustentadas. También esperamos reducir la dependencia del conocimiento tácito, porque la evidencia queda disponible para otros usuarios autorizados. Pero no vamos a inventar un ahorro que todavía no hemos medido. El siguiente paso es un piloto controlado con usuarios autorizados y entre 50 y 100 preguntas reales. Allí mediremos tiempo por tarea, calidad de recuperación, satisfacción y comportamiento ante casos ambiguos. Con esos datos podremos decidir qué módulos escalar, qué ajustes hacer y si el beneficio justifica una implementación institucional más amplia.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José Luis · 4:40-5:00
No estamos proponiendo otro chatbot. Estamos proponiendo convertir conocimiento técnico disperso en conocimiento recuperable, verificable y gobernable. Nuestra petición concreta es aprobar un piloto controlado del Asistente IA DINDES con usuarios autorizados, medir su impacto real y decidir el escalamiento con evidencia. Ya demostramos que el enfoque funciona como MVP; ahora debemos demostrar cuánto valor genera en el trabajo cotidiano. Ese es el paso que transforma un proyecto académico en una herramienta institucional útil.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LIGHT">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7B1736"/>
          </a:solidFill>
          <a:ln w="12700">
            <a:solidFill>
              <a:srgbClr val="7B1736"/>
            </a:solidFill>
            <a:prstDash val="solid"/>
          </a:ln>
        </p:spPr>
      </p:sp>
      <p:sp>
        <p:nvSpPr>
          <p:cNvPr id="3" name="Text 1"/>
          <p:cNvSpPr/>
          <p:nvPr/>
        </p:nvSpPr>
        <p:spPr>
          <a:xfrm>
            <a:off x="411480" y="164592"/>
            <a:ext cx="7955280" cy="228600"/>
          </a:xfrm>
          <a:prstGeom prst="rect">
            <a:avLst/>
          </a:prstGeom>
          <a:noFill/>
          <a:ln/>
        </p:spPr>
        <p:txBody>
          <a:bodyPr wrap="square" lIns="0" tIns="0" rIns="0" bIns="0" rtlCol="0" anchor="ctr"/>
          <a:lstStyle/>
          <a:p>
            <a:pPr marL="0" indent="0">
              <a:buNone/>
            </a:pPr>
            <a:r>
              <a:rPr lang="en-US" sz="850" b="1" dirty="0">
                <a:solidFill>
                  <a:srgbClr val="7B1736"/>
                </a:solidFill>
                <a:latin typeface="Aptos" pitchFamily="34" charset="0"/>
                <a:ea typeface="Aptos" pitchFamily="34" charset="-122"/>
                <a:cs typeface="Aptos" pitchFamily="34" charset="-120"/>
              </a:rPr>
              <a:t>PITCH 5 MINUTOS · PROYECTO INTEGRADOR IA · GRUPO 7</a:t>
            </a:r>
            <a:endParaRPr lang="en-US" sz="850" dirty="0"/>
          </a:p>
        </p:txBody>
      </p:sp>
      <p:sp>
        <p:nvSpPr>
          <p:cNvPr id="4" name="Text 2"/>
          <p:cNvSpPr/>
          <p:nvPr/>
        </p:nvSpPr>
        <p:spPr>
          <a:xfrm>
            <a:off x="10881360" y="164592"/>
            <a:ext cx="868680" cy="228600"/>
          </a:xfrm>
          <a:prstGeom prst="rect">
            <a:avLst/>
          </a:prstGeom>
          <a:noFill/>
          <a:ln/>
        </p:spPr>
        <p:txBody>
          <a:bodyPr wrap="square" lIns="0" tIns="0" rIns="0" bIns="0" rtlCol="0" anchor="ctr"/>
          <a:lstStyle/>
          <a:p>
            <a:pPr marL="0" indent="0" algn="r">
              <a:buNone/>
            </a:pPr>
            <a:r>
              <a:rPr lang="en-US" sz="900" b="1" dirty="0">
                <a:solidFill>
                  <a:srgbClr val="7B1736"/>
                </a:solidFill>
                <a:latin typeface="Aptos" pitchFamily="34" charset="0"/>
                <a:ea typeface="Aptos" pitchFamily="34" charset="-122"/>
                <a:cs typeface="Aptos" pitchFamily="34" charset="-120"/>
              </a:rPr>
              <a:t>UEES</a:t>
            </a:r>
            <a:endParaRPr lang="en-US" sz="900" dirty="0"/>
          </a:p>
        </p:txBody>
      </p:sp>
      <p:sp>
        <p:nvSpPr>
          <p:cNvPr id="5" name="Text 3"/>
          <p:cNvSpPr/>
          <p:nvPr/>
        </p:nvSpPr>
        <p:spPr>
          <a:xfrm>
            <a:off x="411480" y="6510528"/>
            <a:ext cx="3931920" cy="164592"/>
          </a:xfrm>
          <a:prstGeom prst="rect">
            <a:avLst/>
          </a:prstGeom>
          <a:noFill/>
          <a:ln/>
        </p:spPr>
        <p:txBody>
          <a:bodyPr wrap="square" lIns="0" tIns="0" rIns="0" bIns="0" rtlCol="0" anchor="ctr"/>
          <a:lstStyle/>
          <a:p>
            <a:pPr marL="0" indent="0">
              <a:buNone/>
            </a:pPr>
            <a:r>
              <a:rPr lang="en-US" sz="750" dirty="0">
                <a:solidFill>
                  <a:srgbClr val="6E6E6E"/>
                </a:solidFill>
                <a:latin typeface="Aptos" pitchFamily="34" charset="0"/>
                <a:ea typeface="Aptos" pitchFamily="34" charset="-122"/>
                <a:cs typeface="Aptos" pitchFamily="34" charset="-120"/>
              </a:rPr>
              <a:t>Asistente IA DINDES · 24/10/2026</a:t>
            </a:r>
            <a:endParaRPr lang="en-US" sz="7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 xmlns:ma14="http://schemas.microsoft.com/office/mac/drawingml/2011/main" val="0"/>
            </a:ext>
          </a:extLst>
        </p:spPr>
        <p:txBody>
          <a:bodyPr/>
          <a:lstStyle>
            <a:lvl1pPr>
              <a:defRPr sz="750">
                <a:solidFill>
                  <a:srgbClr val="6E6E6E"/>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 xmlns:ma14="http://schemas.microsoft.com/office/mac/drawingml/2011/main" val="0"/>
            </a:ext>
          </a:extLst>
        </p:spPr>
        <p:txBody>
          <a:bodyPr/>
          <a:lstStyle>
            <a:lvl1pPr>
              <a:defRPr sz="750">
                <a:solidFill>
                  <a:srgbClr val="6E6E6E"/>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B173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7B1736"/>
          </a:solidFill>
          <a:ln w="12700">
            <a:solidFill>
              <a:srgbClr val="7B1736"/>
            </a:solidFill>
            <a:prstDash val="solid"/>
          </a:ln>
        </p:spPr>
      </p:sp>
      <p:pic>
        <p:nvPicPr>
          <p:cNvPr id="3" name="Image 0" descr="/mnt/data/_pptx_extract/ppt/media/image1.png"/>
          <p:cNvPicPr>
            <a:picLocks noChangeAspect="1"/>
          </p:cNvPicPr>
          <p:nvPr/>
        </p:nvPicPr>
        <p:blipFill>
          <a:blip r:embed="rId3"/>
          <a:stretch>
            <a:fillRect/>
          </a:stretch>
        </p:blipFill>
        <p:spPr>
          <a:xfrm>
            <a:off x="9646920" y="411480"/>
            <a:ext cx="2057400" cy="1335024"/>
          </a:xfrm>
          <a:prstGeom prst="rect">
            <a:avLst/>
          </a:prstGeom>
        </p:spPr>
      </p:pic>
      <p:sp>
        <p:nvSpPr>
          <p:cNvPr id="4" name="Shape 1"/>
          <p:cNvSpPr/>
          <p:nvPr/>
        </p:nvSpPr>
        <p:spPr>
          <a:xfrm>
            <a:off x="566928" y="777240"/>
            <a:ext cx="685800" cy="73152"/>
          </a:xfrm>
          <a:prstGeom prst="rect">
            <a:avLst/>
          </a:prstGeom>
          <a:solidFill>
            <a:srgbClr val="E3B341"/>
          </a:solidFill>
          <a:ln w="12700">
            <a:solidFill>
              <a:srgbClr val="E3B341"/>
            </a:solidFill>
            <a:prstDash val="solid"/>
          </a:ln>
        </p:spPr>
      </p:sp>
      <p:sp>
        <p:nvSpPr>
          <p:cNvPr id="5" name="Text 2"/>
          <p:cNvSpPr/>
          <p:nvPr/>
        </p:nvSpPr>
        <p:spPr>
          <a:xfrm>
            <a:off x="640080" y="1417320"/>
            <a:ext cx="9966960" cy="1965960"/>
          </a:xfrm>
          <a:prstGeom prst="rect">
            <a:avLst/>
          </a:prstGeom>
          <a:noFill/>
          <a:ln/>
        </p:spPr>
        <p:txBody>
          <a:bodyPr wrap="square" lIns="0" tIns="0" rIns="0" bIns="0" rtlCol="0" anchor="ctr">
            <a:normAutofit/>
          </a:bodyP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¿Y si encontrar la evidencia toma más tiempo que usarla?</a:t>
            </a:r>
            <a:endParaRPr lang="en-US" sz="3800" dirty="0"/>
          </a:p>
        </p:txBody>
      </p:sp>
      <p:sp>
        <p:nvSpPr>
          <p:cNvPr id="6" name="Text 3"/>
          <p:cNvSpPr/>
          <p:nvPr/>
        </p:nvSpPr>
        <p:spPr>
          <a:xfrm>
            <a:off x="658368" y="3913632"/>
            <a:ext cx="5303520" cy="566928"/>
          </a:xfrm>
          <a:prstGeom prst="rect">
            <a:avLst/>
          </a:prstGeom>
          <a:noFill/>
          <a:ln/>
        </p:spPr>
        <p:txBody>
          <a:bodyPr wrap="square" lIns="0" tIns="0" rIns="0" bIns="0" rtlCol="0" anchor="ctr"/>
          <a:lstStyle/>
          <a:p>
            <a:pPr marL="0" indent="0">
              <a:buNone/>
            </a:pPr>
            <a:r>
              <a:rPr lang="en-US" sz="2400" b="1" dirty="0">
                <a:solidFill>
                  <a:srgbClr val="E3B341"/>
                </a:solidFill>
              </a:rPr>
              <a:t>Asistente IA DINDES</a:t>
            </a:r>
            <a:endParaRPr lang="en-US" sz="2400" dirty="0"/>
          </a:p>
        </p:txBody>
      </p:sp>
      <p:sp>
        <p:nvSpPr>
          <p:cNvPr id="7" name="Text 4"/>
          <p:cNvSpPr/>
          <p:nvPr/>
        </p:nvSpPr>
        <p:spPr>
          <a:xfrm>
            <a:off x="658368" y="4535424"/>
            <a:ext cx="8138160" cy="438912"/>
          </a:xfrm>
          <a:prstGeom prst="rect">
            <a:avLst/>
          </a:prstGeom>
          <a:noFill/>
          <a:ln/>
        </p:spPr>
        <p:txBody>
          <a:bodyPr wrap="square" lIns="0" tIns="0" rIns="0" bIns="0" rtlCol="0" anchor="ctr"/>
          <a:lstStyle/>
          <a:p>
            <a:pPr marL="0" indent="0">
              <a:buNone/>
            </a:pPr>
            <a:r>
              <a:rPr lang="en-US" sz="1700" dirty="0">
                <a:solidFill>
                  <a:srgbClr val="F4E9ED"/>
                </a:solidFill>
              </a:rPr>
              <a:t>Conocimiento técnico recuperable, verificable y gobernable</a:t>
            </a:r>
            <a:endParaRPr lang="en-US" sz="1700" dirty="0"/>
          </a:p>
        </p:txBody>
      </p:sp>
      <p:sp>
        <p:nvSpPr>
          <p:cNvPr id="8" name="Text 5"/>
          <p:cNvSpPr/>
          <p:nvPr/>
        </p:nvSpPr>
        <p:spPr>
          <a:xfrm>
            <a:off x="658368" y="5989320"/>
            <a:ext cx="7772400" cy="292608"/>
          </a:xfrm>
          <a:prstGeom prst="rect">
            <a:avLst/>
          </a:prstGeom>
          <a:noFill/>
          <a:ln/>
        </p:spPr>
        <p:txBody>
          <a:bodyPr wrap="square" lIns="0" tIns="0" rIns="0" bIns="0" rtlCol="0" anchor="ctr"/>
          <a:lstStyle/>
          <a:p>
            <a:pPr marL="0" indent="0">
              <a:buNone/>
            </a:pPr>
            <a:r>
              <a:rPr lang="en-US" sz="1100" dirty="0">
                <a:solidFill>
                  <a:srgbClr val="EAD9DF"/>
                </a:solidFill>
              </a:rPr>
              <a:t>José Luis Peñafiel Fernández  ·  Juan Carlos Bajaña Gutiérrez</a:t>
            </a:r>
            <a:endParaRPr lang="en-US" sz="1100" dirty="0"/>
          </a:p>
        </p:txBody>
      </p:sp>
      <p:sp>
        <p:nvSpPr>
          <p:cNvPr id="9" name="Text 6"/>
          <p:cNvSpPr/>
          <p:nvPr/>
        </p:nvSpPr>
        <p:spPr>
          <a:xfrm>
            <a:off x="658368" y="6336792"/>
            <a:ext cx="7772400" cy="228600"/>
          </a:xfrm>
          <a:prstGeom prst="rect">
            <a:avLst/>
          </a:prstGeom>
          <a:noFill/>
          <a:ln/>
        </p:spPr>
        <p:txBody>
          <a:bodyPr wrap="square" lIns="0" tIns="0" rIns="0" bIns="0" rtlCol="0" anchor="ctr"/>
          <a:lstStyle/>
          <a:p>
            <a:pPr marL="0" indent="0">
              <a:buNone/>
            </a:pPr>
            <a:r>
              <a:rPr lang="en-US" sz="900" dirty="0">
                <a:solidFill>
                  <a:srgbClr val="D9BEC7"/>
                </a:solidFill>
              </a:rPr>
              <a:t>UEES · Proyecto Integrador en Inteligencia Artificial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566928"/>
            <a:ext cx="11155680" cy="566928"/>
          </a:xfrm>
          <a:prstGeom prst="rect">
            <a:avLst/>
          </a:prstGeom>
          <a:noFill/>
          <a:ln/>
        </p:spPr>
        <p:txBody>
          <a:bodyPr wrap="square" lIns="0" tIns="0" rIns="0" bIns="0" rtlCol="0" anchor="ctr">
            <a:normAutofit/>
          </a:bodyPr>
          <a:lstStyle/>
          <a:p>
            <a:pPr marL="0" indent="0">
              <a:buNone/>
            </a:pPr>
            <a:r>
              <a:rPr lang="en-US" sz="2800" b="1" dirty="0">
                <a:solidFill>
                  <a:srgbClr val="1E1E1E"/>
                </a:solidFill>
                <a:latin typeface="Aptos Display" pitchFamily="34" charset="0"/>
                <a:ea typeface="Aptos Display" pitchFamily="34" charset="-122"/>
                <a:cs typeface="Aptos Display" pitchFamily="34" charset="-120"/>
              </a:rPr>
              <a:t>El problema no es tener información. Es encontrar la correcta.</a:t>
            </a:r>
            <a:endParaRPr lang="en-US" sz="2800" dirty="0"/>
          </a:p>
        </p:txBody>
      </p:sp>
      <p:sp>
        <p:nvSpPr>
          <p:cNvPr id="3" name="Text 1"/>
          <p:cNvSpPr/>
          <p:nvPr/>
        </p:nvSpPr>
        <p:spPr>
          <a:xfrm>
            <a:off x="512064" y="1152144"/>
            <a:ext cx="10881360" cy="347472"/>
          </a:xfrm>
          <a:prstGeom prst="rect">
            <a:avLst/>
          </a:prstGeom>
          <a:noFill/>
          <a:ln/>
        </p:spPr>
        <p:txBody>
          <a:bodyPr wrap="square" lIns="0" tIns="0" rIns="0" bIns="0" rtlCol="0" anchor="ctr">
            <a:normAutofit/>
          </a:bodyPr>
          <a:lstStyle/>
          <a:p>
            <a:pPr marL="0" indent="0">
              <a:buNone/>
            </a:pPr>
            <a:r>
              <a:rPr lang="en-US" sz="1250" dirty="0">
                <a:solidFill>
                  <a:srgbClr val="666666"/>
                </a:solidFill>
              </a:rPr>
              <a:t>Hoy: conocimiento distribuido, búsqueda manual y verificación fragmentada.</a:t>
            </a:r>
            <a:endParaRPr lang="en-US" sz="1250" dirty="0"/>
          </a:p>
        </p:txBody>
      </p:sp>
      <p:sp>
        <p:nvSpPr>
          <p:cNvPr id="4" name="Shape 2"/>
          <p:cNvSpPr/>
          <p:nvPr/>
        </p:nvSpPr>
        <p:spPr>
          <a:xfrm>
            <a:off x="594360" y="1828800"/>
            <a:ext cx="3154680" cy="2514600"/>
          </a:xfrm>
          <a:prstGeom prst="roundRect">
            <a:avLst>
              <a:gd name="adj" fmla="val 2909"/>
            </a:avLst>
          </a:prstGeom>
          <a:solidFill>
            <a:srgbClr val="FFFFFF"/>
          </a:solidFill>
          <a:ln w="12700">
            <a:solidFill>
              <a:srgbClr val="D9D0C7"/>
            </a:solidFill>
            <a:prstDash val="solid"/>
          </a:ln>
        </p:spPr>
      </p:sp>
      <p:sp>
        <p:nvSpPr>
          <p:cNvPr id="5" name="Text 3"/>
          <p:cNvSpPr/>
          <p:nvPr/>
        </p:nvSpPr>
        <p:spPr>
          <a:xfrm>
            <a:off x="795528" y="1993392"/>
            <a:ext cx="475488" cy="347472"/>
          </a:xfrm>
          <a:prstGeom prst="rect">
            <a:avLst/>
          </a:prstGeom>
          <a:noFill/>
          <a:ln/>
        </p:spPr>
        <p:txBody>
          <a:bodyPr wrap="square" lIns="0" tIns="0" rIns="0" bIns="0" rtlCol="0" anchor="ctr"/>
          <a:lstStyle/>
          <a:p>
            <a:pPr marL="0" indent="0">
              <a:buNone/>
            </a:pPr>
            <a:r>
              <a:rPr lang="en-US" sz="2100" b="1" dirty="0">
                <a:solidFill>
                  <a:srgbClr val="E3B341"/>
                </a:solidFill>
              </a:rPr>
              <a:t>01</a:t>
            </a:r>
            <a:endParaRPr lang="en-US" sz="2100" dirty="0"/>
          </a:p>
        </p:txBody>
      </p:sp>
      <p:sp>
        <p:nvSpPr>
          <p:cNvPr id="6" name="Text 4"/>
          <p:cNvSpPr/>
          <p:nvPr/>
        </p:nvSpPr>
        <p:spPr>
          <a:xfrm>
            <a:off x="1344168" y="2039112"/>
            <a:ext cx="2011680" cy="274320"/>
          </a:xfrm>
          <a:prstGeom prst="rect">
            <a:avLst/>
          </a:prstGeom>
          <a:noFill/>
          <a:ln/>
        </p:spPr>
        <p:txBody>
          <a:bodyPr wrap="square" lIns="0" tIns="0" rIns="0" bIns="0" rtlCol="0" anchor="ctr"/>
          <a:lstStyle/>
          <a:p>
            <a:pPr marL="0" indent="0">
              <a:buNone/>
            </a:pPr>
            <a:r>
              <a:rPr lang="en-US" sz="1350" b="1" dirty="0">
                <a:solidFill>
                  <a:srgbClr val="7B1736"/>
                </a:solidFill>
              </a:rPr>
              <a:t>DISPERSIÓN</a:t>
            </a:r>
            <a:endParaRPr lang="en-US" sz="1350" dirty="0"/>
          </a:p>
        </p:txBody>
      </p:sp>
      <p:sp>
        <p:nvSpPr>
          <p:cNvPr id="7" name="Text 5"/>
          <p:cNvSpPr/>
          <p:nvPr/>
        </p:nvSpPr>
        <p:spPr>
          <a:xfrm>
            <a:off x="813816" y="2542032"/>
            <a:ext cx="2697480" cy="1207008"/>
          </a:xfrm>
          <a:prstGeom prst="rect">
            <a:avLst/>
          </a:prstGeom>
          <a:noFill/>
          <a:ln/>
        </p:spPr>
        <p:txBody>
          <a:bodyPr wrap="square" lIns="254" tIns="254" rIns="254" bIns="254" rtlCol="0" anchor="ctr">
            <a:normAutofit/>
          </a:bodyPr>
          <a:lstStyle/>
          <a:p>
            <a:pPr marL="0" indent="0">
              <a:buNone/>
            </a:pPr>
            <a:r>
              <a:rPr lang="en-US" sz="1600" dirty="0">
                <a:solidFill>
                  <a:srgbClr val="1E1E1E"/>
                </a:solidFill>
              </a:rPr>
              <a:t>Documentos, hojas de cálculo y experiencia del personal viven en fuentes diferentes.</a:t>
            </a:r>
            <a:endParaRPr lang="en-US" sz="1600" dirty="0"/>
          </a:p>
        </p:txBody>
      </p:sp>
      <p:sp>
        <p:nvSpPr>
          <p:cNvPr id="8" name="Shape 6"/>
          <p:cNvSpPr/>
          <p:nvPr/>
        </p:nvSpPr>
        <p:spPr>
          <a:xfrm>
            <a:off x="4160520" y="1828800"/>
            <a:ext cx="3154680" cy="2514600"/>
          </a:xfrm>
          <a:prstGeom prst="roundRect">
            <a:avLst>
              <a:gd name="adj" fmla="val 2909"/>
            </a:avLst>
          </a:prstGeom>
          <a:solidFill>
            <a:srgbClr val="FFFFFF"/>
          </a:solidFill>
          <a:ln w="12700">
            <a:solidFill>
              <a:srgbClr val="D9D0C7"/>
            </a:solidFill>
            <a:prstDash val="solid"/>
          </a:ln>
        </p:spPr>
      </p:sp>
      <p:sp>
        <p:nvSpPr>
          <p:cNvPr id="9" name="Text 7"/>
          <p:cNvSpPr/>
          <p:nvPr/>
        </p:nvSpPr>
        <p:spPr>
          <a:xfrm>
            <a:off x="4361688" y="1993392"/>
            <a:ext cx="475488" cy="347472"/>
          </a:xfrm>
          <a:prstGeom prst="rect">
            <a:avLst/>
          </a:prstGeom>
          <a:noFill/>
          <a:ln/>
        </p:spPr>
        <p:txBody>
          <a:bodyPr wrap="square" lIns="0" tIns="0" rIns="0" bIns="0" rtlCol="0" anchor="ctr"/>
          <a:lstStyle/>
          <a:p>
            <a:pPr marL="0" indent="0">
              <a:buNone/>
            </a:pPr>
            <a:r>
              <a:rPr lang="en-US" sz="2100" b="1" dirty="0">
                <a:solidFill>
                  <a:srgbClr val="E3B341"/>
                </a:solidFill>
              </a:rPr>
              <a:t>02</a:t>
            </a:r>
            <a:endParaRPr lang="en-US" sz="2100" dirty="0"/>
          </a:p>
        </p:txBody>
      </p:sp>
      <p:sp>
        <p:nvSpPr>
          <p:cNvPr id="10" name="Text 8"/>
          <p:cNvSpPr/>
          <p:nvPr/>
        </p:nvSpPr>
        <p:spPr>
          <a:xfrm>
            <a:off x="4910328" y="2039112"/>
            <a:ext cx="2011680" cy="274320"/>
          </a:xfrm>
          <a:prstGeom prst="rect">
            <a:avLst/>
          </a:prstGeom>
          <a:noFill/>
          <a:ln/>
        </p:spPr>
        <p:txBody>
          <a:bodyPr wrap="square" lIns="0" tIns="0" rIns="0" bIns="0" rtlCol="0" anchor="ctr"/>
          <a:lstStyle/>
          <a:p>
            <a:pPr marL="0" indent="0">
              <a:buNone/>
            </a:pPr>
            <a:r>
              <a:rPr lang="en-US" sz="1350" b="1" dirty="0">
                <a:solidFill>
                  <a:srgbClr val="7B1736"/>
                </a:solidFill>
              </a:rPr>
              <a:t>TIEMPO</a:t>
            </a:r>
            <a:endParaRPr lang="en-US" sz="1350" dirty="0"/>
          </a:p>
        </p:txBody>
      </p:sp>
      <p:sp>
        <p:nvSpPr>
          <p:cNvPr id="11" name="Text 9"/>
          <p:cNvSpPr/>
          <p:nvPr/>
        </p:nvSpPr>
        <p:spPr>
          <a:xfrm>
            <a:off x="4379976" y="2542032"/>
            <a:ext cx="2697480" cy="1207008"/>
          </a:xfrm>
          <a:prstGeom prst="rect">
            <a:avLst/>
          </a:prstGeom>
          <a:noFill/>
          <a:ln/>
        </p:spPr>
        <p:txBody>
          <a:bodyPr wrap="square" lIns="254" tIns="254" rIns="254" bIns="254" rtlCol="0" anchor="ctr">
            <a:normAutofit/>
          </a:bodyPr>
          <a:lstStyle/>
          <a:p>
            <a:pPr marL="0" indent="0">
              <a:buNone/>
            </a:pPr>
            <a:r>
              <a:rPr lang="en-US" sz="1600" dirty="0">
                <a:solidFill>
                  <a:srgbClr val="1E1E1E"/>
                </a:solidFill>
              </a:rPr>
              <a:t>Encontrar antecedentes y confirmar versiones consume tiempo antes de poder actuar.</a:t>
            </a:r>
            <a:endParaRPr lang="en-US" sz="1600" dirty="0"/>
          </a:p>
        </p:txBody>
      </p:sp>
      <p:sp>
        <p:nvSpPr>
          <p:cNvPr id="12" name="Shape 10"/>
          <p:cNvSpPr/>
          <p:nvPr/>
        </p:nvSpPr>
        <p:spPr>
          <a:xfrm>
            <a:off x="7726680" y="1828800"/>
            <a:ext cx="3154680" cy="2514600"/>
          </a:xfrm>
          <a:prstGeom prst="roundRect">
            <a:avLst>
              <a:gd name="adj" fmla="val 2909"/>
            </a:avLst>
          </a:prstGeom>
          <a:solidFill>
            <a:srgbClr val="FFFFFF"/>
          </a:solidFill>
          <a:ln w="12700">
            <a:solidFill>
              <a:srgbClr val="D9D0C7"/>
            </a:solidFill>
            <a:prstDash val="solid"/>
          </a:ln>
        </p:spPr>
      </p:sp>
      <p:sp>
        <p:nvSpPr>
          <p:cNvPr id="13" name="Text 11"/>
          <p:cNvSpPr/>
          <p:nvPr/>
        </p:nvSpPr>
        <p:spPr>
          <a:xfrm>
            <a:off x="7927848" y="1993392"/>
            <a:ext cx="475488" cy="347472"/>
          </a:xfrm>
          <a:prstGeom prst="rect">
            <a:avLst/>
          </a:prstGeom>
          <a:noFill/>
          <a:ln/>
        </p:spPr>
        <p:txBody>
          <a:bodyPr wrap="square" lIns="0" tIns="0" rIns="0" bIns="0" rtlCol="0" anchor="ctr"/>
          <a:lstStyle/>
          <a:p>
            <a:pPr marL="0" indent="0">
              <a:buNone/>
            </a:pPr>
            <a:r>
              <a:rPr lang="en-US" sz="2100" b="1" dirty="0">
                <a:solidFill>
                  <a:srgbClr val="E3B341"/>
                </a:solidFill>
              </a:rPr>
              <a:t>03</a:t>
            </a:r>
            <a:endParaRPr lang="en-US" sz="2100" dirty="0"/>
          </a:p>
        </p:txBody>
      </p:sp>
      <p:sp>
        <p:nvSpPr>
          <p:cNvPr id="14" name="Text 12"/>
          <p:cNvSpPr/>
          <p:nvPr/>
        </p:nvSpPr>
        <p:spPr>
          <a:xfrm>
            <a:off x="8476488" y="2039112"/>
            <a:ext cx="2011680" cy="274320"/>
          </a:xfrm>
          <a:prstGeom prst="rect">
            <a:avLst/>
          </a:prstGeom>
          <a:noFill/>
          <a:ln/>
        </p:spPr>
        <p:txBody>
          <a:bodyPr wrap="square" lIns="0" tIns="0" rIns="0" bIns="0" rtlCol="0" anchor="ctr"/>
          <a:lstStyle/>
          <a:p>
            <a:pPr marL="0" indent="0">
              <a:buNone/>
            </a:pPr>
            <a:r>
              <a:rPr lang="en-US" sz="1350" b="1" dirty="0">
                <a:solidFill>
                  <a:srgbClr val="7B1736"/>
                </a:solidFill>
              </a:rPr>
              <a:t>RIESGO</a:t>
            </a:r>
            <a:endParaRPr lang="en-US" sz="1350" dirty="0"/>
          </a:p>
        </p:txBody>
      </p:sp>
      <p:sp>
        <p:nvSpPr>
          <p:cNvPr id="15" name="Text 13"/>
          <p:cNvSpPr/>
          <p:nvPr/>
        </p:nvSpPr>
        <p:spPr>
          <a:xfrm>
            <a:off x="7946136" y="2542032"/>
            <a:ext cx="2697480" cy="1207008"/>
          </a:xfrm>
          <a:prstGeom prst="rect">
            <a:avLst/>
          </a:prstGeom>
          <a:noFill/>
          <a:ln/>
        </p:spPr>
        <p:txBody>
          <a:bodyPr wrap="square" lIns="254" tIns="254" rIns="254" bIns="254" rtlCol="0" anchor="ctr">
            <a:normAutofit/>
          </a:bodyPr>
          <a:lstStyle/>
          <a:p>
            <a:pPr marL="0" indent="0">
              <a:buNone/>
            </a:pPr>
            <a:r>
              <a:rPr lang="en-US" sz="1600" dirty="0">
                <a:solidFill>
                  <a:srgbClr val="1E1E1E"/>
                </a:solidFill>
              </a:rPr>
              <a:t>Una respuesta sin fuente, contexto o control humano puede generar sobreconfianza.</a:t>
            </a:r>
            <a:endParaRPr lang="en-US" sz="1600" dirty="0"/>
          </a:p>
        </p:txBody>
      </p:sp>
      <p:sp>
        <p:nvSpPr>
          <p:cNvPr id="16" name="Shape 14"/>
          <p:cNvSpPr/>
          <p:nvPr/>
        </p:nvSpPr>
        <p:spPr>
          <a:xfrm>
            <a:off x="1280160" y="4873752"/>
            <a:ext cx="9555480" cy="868680"/>
          </a:xfrm>
          <a:prstGeom prst="roundRect">
            <a:avLst>
              <a:gd name="adj" fmla="val 6316"/>
            </a:avLst>
          </a:prstGeom>
          <a:solidFill>
            <a:srgbClr val="F3E6EA"/>
          </a:solidFill>
          <a:ln w="12700">
            <a:solidFill>
              <a:srgbClr val="E0BCC8"/>
            </a:solidFill>
            <a:prstDash val="solid"/>
          </a:ln>
        </p:spPr>
      </p:sp>
      <p:sp>
        <p:nvSpPr>
          <p:cNvPr id="17" name="Text 15"/>
          <p:cNvSpPr/>
          <p:nvPr/>
        </p:nvSpPr>
        <p:spPr>
          <a:xfrm>
            <a:off x="1572768" y="5093208"/>
            <a:ext cx="1234440" cy="201168"/>
          </a:xfrm>
          <a:prstGeom prst="rect">
            <a:avLst/>
          </a:prstGeom>
          <a:noFill/>
          <a:ln/>
        </p:spPr>
        <p:txBody>
          <a:bodyPr wrap="square" lIns="0" tIns="0" rIns="0" bIns="0" rtlCol="0" anchor="ctr"/>
          <a:lstStyle/>
          <a:p>
            <a:pPr marL="0" indent="0">
              <a:buNone/>
            </a:pPr>
            <a:r>
              <a:rPr lang="en-US" sz="1050" b="1" dirty="0">
                <a:solidFill>
                  <a:srgbClr val="7B1736"/>
                </a:solidFill>
              </a:rPr>
              <a:t>OPORTUNIDAD</a:t>
            </a:r>
            <a:endParaRPr lang="en-US" sz="1050" dirty="0"/>
          </a:p>
        </p:txBody>
      </p:sp>
      <p:sp>
        <p:nvSpPr>
          <p:cNvPr id="18" name="Text 16"/>
          <p:cNvSpPr/>
          <p:nvPr/>
        </p:nvSpPr>
        <p:spPr>
          <a:xfrm>
            <a:off x="2788920" y="4965192"/>
            <a:ext cx="7543800" cy="438912"/>
          </a:xfrm>
          <a:prstGeom prst="rect">
            <a:avLst/>
          </a:prstGeom>
          <a:noFill/>
          <a:ln/>
        </p:spPr>
        <p:txBody>
          <a:bodyPr wrap="square" lIns="0" tIns="0" rIns="0" bIns="0" rtlCol="0" anchor="ctr">
            <a:normAutofit fontScale="92500" lnSpcReduction="20000"/>
          </a:bodyPr>
          <a:lstStyle/>
          <a:p>
            <a:pPr marL="0" indent="0">
              <a:buNone/>
            </a:pPr>
            <a:r>
              <a:rPr lang="en-US" sz="1800" b="1" dirty="0">
                <a:solidFill>
                  <a:srgbClr val="1E1E1E"/>
                </a:solidFill>
              </a:rPr>
              <a:t>Reducir la búsqueda manual sin perder trazabilidad, privacidad ni responsabilidad humana.</a:t>
            </a:r>
            <a:endParaRPr lang="en-US" sz="180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 xmlns:ma14="http://schemas.microsoft.com/office/mac/drawingml/2011/main" val="0"/>
            </a:ext>
          </a:extLst>
        </p:spPr>
        <p:txBody>
          <a:bodyPr/>
          <a:lstStyle>
            <a:lvl1pPr>
              <a:defRPr sz="750">
                <a:solidFill>
                  <a:srgbClr val="6E6E6E"/>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566928"/>
            <a:ext cx="11155680" cy="566928"/>
          </a:xfrm>
          <a:prstGeom prst="rect">
            <a:avLst/>
          </a:prstGeom>
          <a:noFill/>
          <a:ln/>
        </p:spPr>
        <p:txBody>
          <a:bodyPr wrap="square" lIns="0" tIns="0" rIns="0" bIns="0" rtlCol="0" anchor="ctr">
            <a:normAutofit/>
          </a:bodyPr>
          <a:lstStyle/>
          <a:p>
            <a:pPr marL="0" indent="0">
              <a:buNone/>
            </a:pPr>
            <a:r>
              <a:rPr lang="en-US" sz="2800" b="1" dirty="0">
                <a:solidFill>
                  <a:srgbClr val="1E1E1E"/>
                </a:solidFill>
                <a:latin typeface="Aptos Display" pitchFamily="34" charset="0"/>
                <a:ea typeface="Aptos Display" pitchFamily="34" charset="-122"/>
                <a:cs typeface="Aptos Display" pitchFamily="34" charset="-120"/>
              </a:rPr>
              <a:t>Una IA que responde según el tipo de evidencia</a:t>
            </a:r>
            <a:endParaRPr lang="en-US" sz="2800" dirty="0"/>
          </a:p>
        </p:txBody>
      </p:sp>
      <p:sp>
        <p:nvSpPr>
          <p:cNvPr id="3" name="Text 1"/>
          <p:cNvSpPr/>
          <p:nvPr/>
        </p:nvSpPr>
        <p:spPr>
          <a:xfrm>
            <a:off x="512064" y="1152144"/>
            <a:ext cx="10881360" cy="347472"/>
          </a:xfrm>
          <a:prstGeom prst="rect">
            <a:avLst/>
          </a:prstGeom>
          <a:noFill/>
          <a:ln/>
        </p:spPr>
        <p:txBody>
          <a:bodyPr wrap="square" lIns="0" tIns="0" rIns="0" bIns="0" rtlCol="0" anchor="ctr">
            <a:normAutofit/>
          </a:bodyPr>
          <a:lstStyle/>
          <a:p>
            <a:pPr marL="0" indent="0">
              <a:buNone/>
            </a:pPr>
            <a:r>
              <a:rPr lang="en-US" sz="1250" dirty="0">
                <a:solidFill>
                  <a:srgbClr val="666666"/>
                </a:solidFill>
              </a:rPr>
              <a:t>Propuesta de valor: exactitud cuando hay datos estructurados; contexto cuando hay documentos.</a:t>
            </a:r>
            <a:endParaRPr lang="en-US" sz="1250" dirty="0"/>
          </a:p>
        </p:txBody>
      </p:sp>
      <p:sp>
        <p:nvSpPr>
          <p:cNvPr id="4" name="Shape 2"/>
          <p:cNvSpPr/>
          <p:nvPr/>
        </p:nvSpPr>
        <p:spPr>
          <a:xfrm>
            <a:off x="566928" y="1664208"/>
            <a:ext cx="4663440" cy="3310128"/>
          </a:xfrm>
          <a:prstGeom prst="roundRect">
            <a:avLst>
              <a:gd name="adj" fmla="val 2210"/>
            </a:avLst>
          </a:prstGeom>
          <a:solidFill>
            <a:srgbClr val="FFFFFF"/>
          </a:solidFill>
          <a:ln w="12700">
            <a:solidFill>
              <a:srgbClr val="D8D0C6"/>
            </a:solidFill>
            <a:prstDash val="solid"/>
          </a:ln>
        </p:spPr>
      </p:sp>
      <p:sp>
        <p:nvSpPr>
          <p:cNvPr id="5" name="Text 3"/>
          <p:cNvSpPr/>
          <p:nvPr/>
        </p:nvSpPr>
        <p:spPr>
          <a:xfrm>
            <a:off x="868680" y="1965960"/>
            <a:ext cx="4069080" cy="731520"/>
          </a:xfrm>
          <a:prstGeom prst="rect">
            <a:avLst/>
          </a:prstGeom>
          <a:noFill/>
          <a:ln/>
        </p:spPr>
        <p:txBody>
          <a:bodyPr wrap="square" lIns="0" tIns="0" rIns="0" bIns="0" rtlCol="0" anchor="ctr">
            <a:normAutofit lnSpcReduction="10000"/>
          </a:bodyPr>
          <a:lstStyle/>
          <a:p>
            <a:pPr marL="0" indent="0">
              <a:buNone/>
            </a:pPr>
            <a:r>
              <a:rPr lang="en-US" sz="1700" dirty="0">
                <a:solidFill>
                  <a:srgbClr val="1E1E1E"/>
                </a:solidFill>
              </a:rPr>
              <a:t>Para el personal técnico de DINDES que necesita consultar antecedentes e inventario,</a:t>
            </a:r>
            <a:endParaRPr lang="en-US" sz="1700" dirty="0"/>
          </a:p>
        </p:txBody>
      </p:sp>
      <p:sp>
        <p:nvSpPr>
          <p:cNvPr id="6" name="Text 4"/>
          <p:cNvSpPr/>
          <p:nvPr/>
        </p:nvSpPr>
        <p:spPr>
          <a:xfrm>
            <a:off x="868680" y="2724912"/>
            <a:ext cx="4069080" cy="384048"/>
          </a:xfrm>
          <a:prstGeom prst="rect">
            <a:avLst/>
          </a:prstGeom>
          <a:noFill/>
          <a:ln/>
        </p:spPr>
        <p:txBody>
          <a:bodyPr wrap="square" lIns="0" tIns="0" rIns="0" bIns="0" rtlCol="0" anchor="ctr"/>
          <a:lstStyle/>
          <a:p>
            <a:pPr marL="0" indent="0">
              <a:buNone/>
            </a:pPr>
            <a:r>
              <a:rPr lang="en-US" sz="2400" b="1" dirty="0">
                <a:solidFill>
                  <a:srgbClr val="7B1736"/>
                </a:solidFill>
              </a:rPr>
              <a:t>Asistente IA DINDES</a:t>
            </a:r>
            <a:endParaRPr lang="en-US" sz="2400" dirty="0"/>
          </a:p>
        </p:txBody>
      </p:sp>
      <p:sp>
        <p:nvSpPr>
          <p:cNvPr id="7" name="Text 5"/>
          <p:cNvSpPr/>
          <p:nvPr/>
        </p:nvSpPr>
        <p:spPr>
          <a:xfrm>
            <a:off x="868680" y="3172968"/>
            <a:ext cx="4041648" cy="1005840"/>
          </a:xfrm>
          <a:prstGeom prst="rect">
            <a:avLst/>
          </a:prstGeom>
          <a:noFill/>
          <a:ln/>
        </p:spPr>
        <p:txBody>
          <a:bodyPr wrap="square" lIns="0" tIns="0" rIns="0" bIns="0" rtlCol="0" anchor="ctr">
            <a:normAutofit/>
          </a:bodyPr>
          <a:lstStyle/>
          <a:p>
            <a:pPr marL="0" indent="0">
              <a:buNone/>
            </a:pPr>
            <a:r>
              <a:rPr lang="en-US" sz="1700" dirty="0">
                <a:solidFill>
                  <a:srgbClr val="1E1E1E"/>
                </a:solidFill>
              </a:rPr>
              <a:t>es una solución local de gestión del conocimiento que entrega respuestas con fuentes visibles y consultas estructuradas.</a:t>
            </a:r>
            <a:endParaRPr lang="en-US" sz="1700" dirty="0"/>
          </a:p>
        </p:txBody>
      </p:sp>
      <p:sp>
        <p:nvSpPr>
          <p:cNvPr id="8" name="Text 6"/>
          <p:cNvSpPr/>
          <p:nvPr/>
        </p:nvSpPr>
        <p:spPr>
          <a:xfrm>
            <a:off x="868680" y="4261104"/>
            <a:ext cx="4069080" cy="502920"/>
          </a:xfrm>
          <a:prstGeom prst="rect">
            <a:avLst/>
          </a:prstGeom>
          <a:noFill/>
          <a:ln/>
        </p:spPr>
        <p:txBody>
          <a:bodyPr wrap="square" lIns="0" tIns="0" rIns="0" bIns="0" rtlCol="0" anchor="ctr">
            <a:normAutofit fontScale="92500"/>
          </a:bodyPr>
          <a:lstStyle/>
          <a:p>
            <a:pPr marL="0" indent="0">
              <a:buNone/>
            </a:pPr>
            <a:r>
              <a:rPr lang="en-US" sz="1400" b="1" dirty="0">
                <a:solidFill>
                  <a:srgbClr val="2C5D8A"/>
                </a:solidFill>
              </a:rPr>
              <a:t>Diferenciador: no es un chatbot genérico; combina ruta determinística + RAG y opera on-premise.</a:t>
            </a:r>
            <a:endParaRPr lang="en-US" sz="1400" dirty="0"/>
          </a:p>
        </p:txBody>
      </p:sp>
      <p:sp>
        <p:nvSpPr>
          <p:cNvPr id="9" name="Shape 7"/>
          <p:cNvSpPr/>
          <p:nvPr/>
        </p:nvSpPr>
        <p:spPr>
          <a:xfrm>
            <a:off x="5504688" y="1664208"/>
            <a:ext cx="6099048" cy="3310128"/>
          </a:xfrm>
          <a:prstGeom prst="roundRect">
            <a:avLst>
              <a:gd name="adj" fmla="val 2210"/>
            </a:avLst>
          </a:prstGeom>
          <a:solidFill>
            <a:srgbClr val="FFFFFF"/>
          </a:solidFill>
          <a:ln w="12700">
            <a:solidFill>
              <a:srgbClr val="D8D0C6"/>
            </a:solidFill>
            <a:prstDash val="solid"/>
          </a:ln>
        </p:spPr>
      </p:sp>
      <p:pic>
        <p:nvPicPr>
          <p:cNvPr id="10" name="Image 0" descr="/mnt/data/_pptx_extract/ppt/media/image2.png"/>
          <p:cNvPicPr>
            <a:picLocks noChangeAspect="1"/>
          </p:cNvPicPr>
          <p:nvPr/>
        </p:nvPicPr>
        <p:blipFill>
          <a:blip r:embed="rId3"/>
          <a:stretch>
            <a:fillRect/>
          </a:stretch>
        </p:blipFill>
        <p:spPr>
          <a:xfrm>
            <a:off x="5742432" y="1947672"/>
            <a:ext cx="5623560" cy="2331720"/>
          </a:xfrm>
          <a:prstGeom prst="rect">
            <a:avLst/>
          </a:prstGeom>
        </p:spPr>
      </p:pic>
      <p:sp>
        <p:nvSpPr>
          <p:cNvPr id="11" name="Shape 8"/>
          <p:cNvSpPr/>
          <p:nvPr/>
        </p:nvSpPr>
        <p:spPr>
          <a:xfrm>
            <a:off x="5897880" y="4279392"/>
            <a:ext cx="1600200" cy="329184"/>
          </a:xfrm>
          <a:prstGeom prst="roundRect">
            <a:avLst>
              <a:gd name="adj" fmla="val 22222"/>
            </a:avLst>
          </a:prstGeom>
          <a:solidFill>
            <a:srgbClr val="7B1736"/>
          </a:solidFill>
          <a:ln w="12700">
            <a:solidFill>
              <a:srgbClr val="7B1736"/>
            </a:solidFill>
            <a:prstDash val="solid"/>
          </a:ln>
        </p:spPr>
      </p:sp>
      <p:sp>
        <p:nvSpPr>
          <p:cNvPr id="12" name="Text 9"/>
          <p:cNvSpPr/>
          <p:nvPr/>
        </p:nvSpPr>
        <p:spPr>
          <a:xfrm>
            <a:off x="5943600" y="4357116"/>
            <a:ext cx="1508760" cy="128016"/>
          </a:xfrm>
          <a:prstGeom prst="rect">
            <a:avLst/>
          </a:prstGeom>
          <a:noFill/>
          <a:ln/>
        </p:spPr>
        <p:txBody>
          <a:bodyPr wrap="square" lIns="0" tIns="0" rIns="0" bIns="0" rtlCol="0" anchor="ctr">
            <a:normAutofit lnSpcReduction="10000"/>
          </a:bodyPr>
          <a:lstStyle/>
          <a:p>
            <a:pPr marL="0" indent="0" algn="ctr">
              <a:buNone/>
            </a:pPr>
            <a:r>
              <a:rPr lang="en-US" sz="900" b="1" dirty="0">
                <a:solidFill>
                  <a:srgbClr val="FFFFFF"/>
                </a:solidFill>
              </a:rPr>
              <a:t>DATO EXACTO</a:t>
            </a:r>
            <a:endParaRPr lang="en-US" sz="900" dirty="0"/>
          </a:p>
        </p:txBody>
      </p:sp>
      <p:sp>
        <p:nvSpPr>
          <p:cNvPr id="13" name="Shape 10"/>
          <p:cNvSpPr/>
          <p:nvPr/>
        </p:nvSpPr>
        <p:spPr>
          <a:xfrm>
            <a:off x="7644384" y="4279392"/>
            <a:ext cx="2148840" cy="329184"/>
          </a:xfrm>
          <a:prstGeom prst="roundRect">
            <a:avLst>
              <a:gd name="adj" fmla="val 22222"/>
            </a:avLst>
          </a:prstGeom>
          <a:solidFill>
            <a:srgbClr val="2C5D8A"/>
          </a:solidFill>
          <a:ln w="12700">
            <a:solidFill>
              <a:srgbClr val="2C5D8A"/>
            </a:solidFill>
            <a:prstDash val="solid"/>
          </a:ln>
        </p:spPr>
      </p:sp>
      <p:sp>
        <p:nvSpPr>
          <p:cNvPr id="14" name="Text 11"/>
          <p:cNvSpPr/>
          <p:nvPr/>
        </p:nvSpPr>
        <p:spPr>
          <a:xfrm>
            <a:off x="7690104" y="4357116"/>
            <a:ext cx="2057400" cy="128016"/>
          </a:xfrm>
          <a:prstGeom prst="rect">
            <a:avLst/>
          </a:prstGeom>
          <a:noFill/>
          <a:ln/>
        </p:spPr>
        <p:txBody>
          <a:bodyPr wrap="square" lIns="0" tIns="0" rIns="0" bIns="0" rtlCol="0" anchor="ctr">
            <a:normAutofit lnSpcReduction="10000"/>
          </a:bodyPr>
          <a:lstStyle/>
          <a:p>
            <a:pPr marL="0" indent="0" algn="ctr">
              <a:buNone/>
            </a:pPr>
            <a:r>
              <a:rPr lang="en-US" sz="900" b="1" dirty="0">
                <a:solidFill>
                  <a:srgbClr val="FFFFFF"/>
                </a:solidFill>
              </a:rPr>
              <a:t>RESPUESTA CON FUENTE</a:t>
            </a:r>
            <a:endParaRPr lang="en-US" sz="900" dirty="0"/>
          </a:p>
        </p:txBody>
      </p:sp>
      <p:sp>
        <p:nvSpPr>
          <p:cNvPr id="15" name="Shape 12"/>
          <p:cNvSpPr/>
          <p:nvPr/>
        </p:nvSpPr>
        <p:spPr>
          <a:xfrm>
            <a:off x="9948672" y="4279392"/>
            <a:ext cx="1353312" cy="329184"/>
          </a:xfrm>
          <a:prstGeom prst="roundRect">
            <a:avLst>
              <a:gd name="adj" fmla="val 22222"/>
            </a:avLst>
          </a:prstGeom>
          <a:solidFill>
            <a:srgbClr val="2F7D57"/>
          </a:solidFill>
          <a:ln w="12700">
            <a:solidFill>
              <a:srgbClr val="2F7D57"/>
            </a:solidFill>
            <a:prstDash val="solid"/>
          </a:ln>
        </p:spPr>
      </p:sp>
      <p:sp>
        <p:nvSpPr>
          <p:cNvPr id="16" name="Text 13"/>
          <p:cNvSpPr/>
          <p:nvPr/>
        </p:nvSpPr>
        <p:spPr>
          <a:xfrm>
            <a:off x="9994392" y="4357116"/>
            <a:ext cx="1261872" cy="128016"/>
          </a:xfrm>
          <a:prstGeom prst="rect">
            <a:avLst/>
          </a:prstGeom>
          <a:noFill/>
          <a:ln/>
        </p:spPr>
        <p:txBody>
          <a:bodyPr wrap="square" lIns="0" tIns="0" rIns="0" bIns="0" rtlCol="0" anchor="ctr">
            <a:normAutofit lnSpcReduction="10000"/>
          </a:bodyPr>
          <a:lstStyle/>
          <a:p>
            <a:pPr marL="0" indent="0" algn="ctr">
              <a:buNone/>
            </a:pPr>
            <a:r>
              <a:rPr lang="en-US" sz="900" b="1" dirty="0">
                <a:solidFill>
                  <a:srgbClr val="FFFFFF"/>
                </a:solidFill>
              </a:rPr>
              <a:t>ON-PREMISE</a:t>
            </a:r>
            <a:endParaRPr lang="en-US" sz="900" dirty="0"/>
          </a:p>
        </p:txBody>
      </p:sp>
      <p:sp>
        <p:nvSpPr>
          <p:cNvPr id="17" name="Shape 14"/>
          <p:cNvSpPr/>
          <p:nvPr/>
        </p:nvSpPr>
        <p:spPr>
          <a:xfrm>
            <a:off x="1371600" y="5321808"/>
            <a:ext cx="9418320" cy="658368"/>
          </a:xfrm>
          <a:prstGeom prst="roundRect">
            <a:avLst>
              <a:gd name="adj" fmla="val 6944"/>
            </a:avLst>
          </a:prstGeom>
          <a:solidFill>
            <a:srgbClr val="FFF8E6"/>
          </a:solidFill>
          <a:ln w="12700">
            <a:solidFill>
              <a:srgbClr val="EAD19A"/>
            </a:solidFill>
            <a:prstDash val="solid"/>
          </a:ln>
        </p:spPr>
      </p:sp>
      <p:sp>
        <p:nvSpPr>
          <p:cNvPr id="18" name="Text 15"/>
          <p:cNvSpPr/>
          <p:nvPr/>
        </p:nvSpPr>
        <p:spPr>
          <a:xfrm>
            <a:off x="1627632" y="5513832"/>
            <a:ext cx="8924544" cy="274320"/>
          </a:xfrm>
          <a:prstGeom prst="rect">
            <a:avLst/>
          </a:prstGeom>
          <a:noFill/>
          <a:ln/>
        </p:spPr>
        <p:txBody>
          <a:bodyPr wrap="square" lIns="0" tIns="0" rIns="0" bIns="0" rtlCol="0" anchor="ctr">
            <a:normAutofit fontScale="92500"/>
          </a:bodyPr>
          <a:lstStyle/>
          <a:p>
            <a:pPr marL="0" indent="0" algn="ctr">
              <a:buNone/>
            </a:pPr>
            <a:r>
              <a:rPr lang="en-US" sz="1300" b="1" dirty="0">
                <a:solidFill>
                  <a:srgbClr val="6B5420"/>
                </a:solidFill>
              </a:rPr>
              <a:t>La demo pública en Streamlit usa datos sintéticos/autorizados; la arquitectura institucional recomendada sigue siendo local.</a:t>
            </a:r>
            <a:endParaRPr lang="en-US" sz="130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 xmlns:ma14="http://schemas.microsoft.com/office/mac/drawingml/2011/main" val="0"/>
            </a:ext>
          </a:extLst>
        </p:spPr>
        <p:txBody>
          <a:bodyPr/>
          <a:lstStyle>
            <a:lvl1pPr>
              <a:defRPr sz="750">
                <a:solidFill>
                  <a:srgbClr val="6E6E6E"/>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566928"/>
            <a:ext cx="11155680" cy="566928"/>
          </a:xfrm>
          <a:prstGeom prst="rect">
            <a:avLst/>
          </a:prstGeom>
          <a:noFill/>
          <a:ln/>
        </p:spPr>
        <p:txBody>
          <a:bodyPr wrap="square" lIns="0" tIns="0" rIns="0" bIns="0" rtlCol="0" anchor="ctr">
            <a:normAutofit/>
          </a:bodyPr>
          <a:lstStyle/>
          <a:p>
            <a:pPr marL="0" indent="0">
              <a:buNone/>
            </a:pPr>
            <a:r>
              <a:rPr lang="en-US" sz="2800" b="1" dirty="0">
                <a:solidFill>
                  <a:srgbClr val="1E1E1E"/>
                </a:solidFill>
                <a:latin typeface="Aptos Display" pitchFamily="34" charset="0"/>
                <a:ea typeface="Aptos Display" pitchFamily="34" charset="-122"/>
                <a:cs typeface="Aptos Display" pitchFamily="34" charset="-120"/>
              </a:rPr>
              <a:t>La evidencia: funciona, cita y sabe cuándo no responder</a:t>
            </a:r>
            <a:endParaRPr lang="en-US" sz="2800" dirty="0"/>
          </a:p>
        </p:txBody>
      </p:sp>
      <p:sp>
        <p:nvSpPr>
          <p:cNvPr id="3" name="Text 1"/>
          <p:cNvSpPr/>
          <p:nvPr/>
        </p:nvSpPr>
        <p:spPr>
          <a:xfrm>
            <a:off x="512064" y="1152144"/>
            <a:ext cx="10881360" cy="347472"/>
          </a:xfrm>
          <a:prstGeom prst="rect">
            <a:avLst/>
          </a:prstGeom>
          <a:noFill/>
          <a:ln/>
        </p:spPr>
        <p:txBody>
          <a:bodyPr wrap="square" lIns="0" tIns="0" rIns="0" bIns="0" rtlCol="0" anchor="ctr">
            <a:normAutofit/>
          </a:bodyPr>
          <a:lstStyle/>
          <a:p>
            <a:pPr marL="0" indent="0">
              <a:buNone/>
            </a:pPr>
            <a:r>
              <a:rPr lang="en-US" sz="1250" dirty="0">
                <a:solidFill>
                  <a:srgbClr val="666666"/>
                </a:solidFill>
              </a:rPr>
              <a:t>Resultados funcionales + caso concreto + límite honesto.</a:t>
            </a:r>
            <a:endParaRPr lang="en-US" sz="1250" dirty="0"/>
          </a:p>
        </p:txBody>
      </p:sp>
      <p:sp>
        <p:nvSpPr>
          <p:cNvPr id="4" name="Shape 2"/>
          <p:cNvSpPr/>
          <p:nvPr/>
        </p:nvSpPr>
        <p:spPr>
          <a:xfrm>
            <a:off x="658368" y="1691640"/>
            <a:ext cx="2971800" cy="896112"/>
          </a:xfrm>
          <a:prstGeom prst="roundRect">
            <a:avLst>
              <a:gd name="adj" fmla="val 8163"/>
            </a:avLst>
          </a:prstGeom>
          <a:solidFill>
            <a:srgbClr val="F3E6EA"/>
          </a:solidFill>
          <a:ln w="12700">
            <a:solidFill>
              <a:srgbClr val="FFFFFF"/>
            </a:solidFill>
            <a:prstDash val="solid"/>
          </a:ln>
        </p:spPr>
      </p:sp>
      <p:sp>
        <p:nvSpPr>
          <p:cNvPr id="5" name="Text 3"/>
          <p:cNvSpPr/>
          <p:nvPr/>
        </p:nvSpPr>
        <p:spPr>
          <a:xfrm>
            <a:off x="896112" y="1819656"/>
            <a:ext cx="1143000" cy="347472"/>
          </a:xfrm>
          <a:prstGeom prst="rect">
            <a:avLst/>
          </a:prstGeom>
          <a:noFill/>
          <a:ln/>
        </p:spPr>
        <p:txBody>
          <a:bodyPr wrap="square" lIns="0" tIns="0" rIns="0" bIns="0" rtlCol="0" anchor="ctr"/>
          <a:lstStyle/>
          <a:p>
            <a:pPr marL="0" indent="0">
              <a:buNone/>
            </a:pPr>
            <a:r>
              <a:rPr lang="en-US" sz="2200" b="1" dirty="0">
                <a:solidFill>
                  <a:srgbClr val="7B1736"/>
                </a:solidFill>
              </a:rPr>
              <a:t>34/34</a:t>
            </a:r>
            <a:endParaRPr lang="en-US" sz="2200" dirty="0"/>
          </a:p>
        </p:txBody>
      </p:sp>
      <p:sp>
        <p:nvSpPr>
          <p:cNvPr id="6" name="Text 4"/>
          <p:cNvSpPr/>
          <p:nvPr/>
        </p:nvSpPr>
        <p:spPr>
          <a:xfrm>
            <a:off x="2057400" y="1847088"/>
            <a:ext cx="1298448" cy="420624"/>
          </a:xfrm>
          <a:prstGeom prst="rect">
            <a:avLst/>
          </a:prstGeom>
          <a:noFill/>
          <a:ln/>
        </p:spPr>
        <p:txBody>
          <a:bodyPr wrap="square" lIns="0" tIns="0" rIns="0" bIns="0" rtlCol="0" anchor="ctr">
            <a:normAutofit/>
          </a:bodyPr>
          <a:lstStyle/>
          <a:p>
            <a:pPr marL="0" indent="0">
              <a:buNone/>
            </a:pPr>
            <a:r>
              <a:rPr lang="en-US" sz="1150" b="1" dirty="0">
                <a:solidFill>
                  <a:srgbClr val="1E1E1E"/>
                </a:solidFill>
              </a:rPr>
              <a:t>casos funcionales aprobados</a:t>
            </a:r>
            <a:endParaRPr lang="en-US" sz="1150" dirty="0"/>
          </a:p>
        </p:txBody>
      </p:sp>
      <p:sp>
        <p:nvSpPr>
          <p:cNvPr id="7" name="Shape 5"/>
          <p:cNvSpPr/>
          <p:nvPr/>
        </p:nvSpPr>
        <p:spPr>
          <a:xfrm>
            <a:off x="658368" y="2816352"/>
            <a:ext cx="2971800" cy="896112"/>
          </a:xfrm>
          <a:prstGeom prst="roundRect">
            <a:avLst>
              <a:gd name="adj" fmla="val 8163"/>
            </a:avLst>
          </a:prstGeom>
          <a:solidFill>
            <a:srgbClr val="EAF2F8"/>
          </a:solidFill>
          <a:ln w="12700">
            <a:solidFill>
              <a:srgbClr val="FFFFFF"/>
            </a:solidFill>
            <a:prstDash val="solid"/>
          </a:ln>
        </p:spPr>
      </p:sp>
      <p:sp>
        <p:nvSpPr>
          <p:cNvPr id="8" name="Text 6"/>
          <p:cNvSpPr/>
          <p:nvPr/>
        </p:nvSpPr>
        <p:spPr>
          <a:xfrm>
            <a:off x="896112" y="2944368"/>
            <a:ext cx="1143000" cy="347472"/>
          </a:xfrm>
          <a:prstGeom prst="rect">
            <a:avLst/>
          </a:prstGeom>
          <a:noFill/>
          <a:ln/>
        </p:spPr>
        <p:txBody>
          <a:bodyPr wrap="square" lIns="0" tIns="0" rIns="0" bIns="0" rtlCol="0" anchor="ctr"/>
          <a:lstStyle/>
          <a:p>
            <a:pPr marL="0" indent="0">
              <a:buNone/>
            </a:pPr>
            <a:r>
              <a:rPr lang="en-US" sz="2200" b="1" dirty="0">
                <a:solidFill>
                  <a:srgbClr val="2C5D8A"/>
                </a:solidFill>
              </a:rPr>
              <a:t>0,85 ms</a:t>
            </a:r>
            <a:endParaRPr lang="en-US" sz="2200" dirty="0"/>
          </a:p>
        </p:txBody>
      </p:sp>
      <p:sp>
        <p:nvSpPr>
          <p:cNvPr id="9" name="Text 7"/>
          <p:cNvSpPr/>
          <p:nvPr/>
        </p:nvSpPr>
        <p:spPr>
          <a:xfrm>
            <a:off x="2057400" y="2971800"/>
            <a:ext cx="1298448" cy="420624"/>
          </a:xfrm>
          <a:prstGeom prst="rect">
            <a:avLst/>
          </a:prstGeom>
          <a:noFill/>
          <a:ln/>
        </p:spPr>
        <p:txBody>
          <a:bodyPr wrap="square" lIns="0" tIns="0" rIns="0" bIns="0" rtlCol="0" anchor="ctr">
            <a:normAutofit/>
          </a:bodyPr>
          <a:lstStyle/>
          <a:p>
            <a:pPr marL="0" indent="0">
              <a:buNone/>
            </a:pPr>
            <a:r>
              <a:rPr lang="en-US" sz="1150" b="1" dirty="0">
                <a:solidFill>
                  <a:srgbClr val="1E1E1E"/>
                </a:solidFill>
              </a:rPr>
              <a:t>latencia promedio estructurada</a:t>
            </a:r>
            <a:endParaRPr lang="en-US" sz="1150" dirty="0"/>
          </a:p>
        </p:txBody>
      </p:sp>
      <p:sp>
        <p:nvSpPr>
          <p:cNvPr id="10" name="Shape 8"/>
          <p:cNvSpPr/>
          <p:nvPr/>
        </p:nvSpPr>
        <p:spPr>
          <a:xfrm>
            <a:off x="658368" y="3941064"/>
            <a:ext cx="2971800" cy="896112"/>
          </a:xfrm>
          <a:prstGeom prst="roundRect">
            <a:avLst>
              <a:gd name="adj" fmla="val 8163"/>
            </a:avLst>
          </a:prstGeom>
          <a:solidFill>
            <a:srgbClr val="EAF4EE"/>
          </a:solidFill>
          <a:ln w="12700">
            <a:solidFill>
              <a:srgbClr val="FFFFFF"/>
            </a:solidFill>
            <a:prstDash val="solid"/>
          </a:ln>
        </p:spPr>
      </p:sp>
      <p:sp>
        <p:nvSpPr>
          <p:cNvPr id="11" name="Text 9"/>
          <p:cNvSpPr/>
          <p:nvPr/>
        </p:nvSpPr>
        <p:spPr>
          <a:xfrm>
            <a:off x="896112" y="4069080"/>
            <a:ext cx="1143000" cy="347472"/>
          </a:xfrm>
          <a:prstGeom prst="rect">
            <a:avLst/>
          </a:prstGeom>
          <a:noFill/>
          <a:ln/>
        </p:spPr>
        <p:txBody>
          <a:bodyPr wrap="square" lIns="0" tIns="0" rIns="0" bIns="0" rtlCol="0" anchor="ctr"/>
          <a:lstStyle/>
          <a:p>
            <a:pPr marL="0" indent="0">
              <a:buNone/>
            </a:pPr>
            <a:r>
              <a:rPr lang="en-US" sz="2200" b="1" dirty="0">
                <a:solidFill>
                  <a:srgbClr val="2F7D57"/>
                </a:solidFill>
              </a:rPr>
              <a:t>8,89 s</a:t>
            </a:r>
            <a:endParaRPr lang="en-US" sz="2200" dirty="0"/>
          </a:p>
        </p:txBody>
      </p:sp>
      <p:sp>
        <p:nvSpPr>
          <p:cNvPr id="12" name="Text 10"/>
          <p:cNvSpPr/>
          <p:nvPr/>
        </p:nvSpPr>
        <p:spPr>
          <a:xfrm>
            <a:off x="2057400" y="4096512"/>
            <a:ext cx="1298448" cy="420624"/>
          </a:xfrm>
          <a:prstGeom prst="rect">
            <a:avLst/>
          </a:prstGeom>
          <a:noFill/>
          <a:ln/>
        </p:spPr>
        <p:txBody>
          <a:bodyPr wrap="square" lIns="0" tIns="0" rIns="0" bIns="0" rtlCol="0" anchor="ctr">
            <a:normAutofit/>
          </a:bodyPr>
          <a:lstStyle/>
          <a:p>
            <a:pPr marL="0" indent="0">
              <a:buNone/>
            </a:pPr>
            <a:r>
              <a:rPr lang="en-US" sz="1150" b="1" dirty="0">
                <a:solidFill>
                  <a:srgbClr val="1E1E1E"/>
                </a:solidFill>
              </a:rPr>
              <a:t>latencia promedio RAG</a:t>
            </a:r>
            <a:endParaRPr lang="en-US" sz="1150" dirty="0"/>
          </a:p>
        </p:txBody>
      </p:sp>
      <p:sp>
        <p:nvSpPr>
          <p:cNvPr id="13" name="Text 11"/>
          <p:cNvSpPr/>
          <p:nvPr/>
        </p:nvSpPr>
        <p:spPr>
          <a:xfrm>
            <a:off x="713232" y="5010912"/>
            <a:ext cx="2834640" cy="438912"/>
          </a:xfrm>
          <a:prstGeom prst="rect">
            <a:avLst/>
          </a:prstGeom>
          <a:noFill/>
          <a:ln/>
        </p:spPr>
        <p:txBody>
          <a:bodyPr wrap="square" lIns="0" tIns="0" rIns="0" bIns="0" rtlCol="0" anchor="ctr">
            <a:normAutofit/>
          </a:bodyPr>
          <a:lstStyle/>
          <a:p>
            <a:pPr marL="0" indent="0">
              <a:buNone/>
            </a:pPr>
            <a:r>
              <a:rPr lang="en-US" sz="950" i="1" dirty="0">
                <a:solidFill>
                  <a:srgbClr val="666666"/>
                </a:solidFill>
              </a:rPr>
              <a:t>No equivale a desempeño operacional; es evidencia del MVP.</a:t>
            </a:r>
            <a:endParaRPr lang="en-US" sz="950" dirty="0"/>
          </a:p>
        </p:txBody>
      </p:sp>
      <p:sp>
        <p:nvSpPr>
          <p:cNvPr id="14" name="Shape 12"/>
          <p:cNvSpPr/>
          <p:nvPr/>
        </p:nvSpPr>
        <p:spPr>
          <a:xfrm>
            <a:off x="3886200" y="1664208"/>
            <a:ext cx="7662672" cy="3977640"/>
          </a:xfrm>
          <a:prstGeom prst="roundRect">
            <a:avLst>
              <a:gd name="adj" fmla="val 1839"/>
            </a:avLst>
          </a:prstGeom>
          <a:solidFill>
            <a:srgbClr val="FFFFFF"/>
          </a:solidFill>
          <a:ln w="12700">
            <a:solidFill>
              <a:srgbClr val="D8D0C6"/>
            </a:solidFill>
            <a:prstDash val="solid"/>
          </a:ln>
        </p:spPr>
      </p:sp>
      <p:pic>
        <p:nvPicPr>
          <p:cNvPr id="15" name="Image 0" descr="/mnt/data/_pptx_extract/ppt/media/image14.png"/>
          <p:cNvPicPr>
            <a:picLocks noChangeAspect="1"/>
          </p:cNvPicPr>
          <p:nvPr/>
        </p:nvPicPr>
        <p:blipFill>
          <a:blip r:embed="rId3"/>
          <a:stretch>
            <a:fillRect/>
          </a:stretch>
        </p:blipFill>
        <p:spPr>
          <a:xfrm>
            <a:off x="4133088" y="1901952"/>
            <a:ext cx="7168896" cy="3246120"/>
          </a:xfrm>
          <a:prstGeom prst="rect">
            <a:avLst/>
          </a:prstGeom>
        </p:spPr>
      </p:pic>
      <p:sp>
        <p:nvSpPr>
          <p:cNvPr id="16" name="Text 13"/>
          <p:cNvSpPr/>
          <p:nvPr/>
        </p:nvSpPr>
        <p:spPr>
          <a:xfrm>
            <a:off x="4160520" y="5248656"/>
            <a:ext cx="7086600" cy="256032"/>
          </a:xfrm>
          <a:prstGeom prst="rect">
            <a:avLst/>
          </a:prstGeom>
          <a:noFill/>
          <a:ln/>
        </p:spPr>
        <p:txBody>
          <a:bodyPr wrap="square" lIns="0" tIns="0" rIns="0" bIns="0" rtlCol="0" anchor="ctr">
            <a:normAutofit/>
          </a:bodyPr>
          <a:lstStyle/>
          <a:p>
            <a:pPr marL="0" indent="0" algn="ctr">
              <a:buNone/>
            </a:pPr>
            <a:r>
              <a:rPr lang="en-US" sz="1050" dirty="0">
                <a:solidFill>
                  <a:srgbClr val="666666"/>
                </a:solidFill>
              </a:rPr>
              <a:t>Casos: Creality K1 · DEWALT · Simulador Táctico · consulta sin evidencia</a:t>
            </a:r>
            <a:endParaRPr lang="en-US" sz="1050" dirty="0"/>
          </a:p>
        </p:txBody>
      </p:sp>
      <p:sp>
        <p:nvSpPr>
          <p:cNvPr id="17" name="Shape 14"/>
          <p:cNvSpPr/>
          <p:nvPr/>
        </p:nvSpPr>
        <p:spPr>
          <a:xfrm>
            <a:off x="1051560" y="5797296"/>
            <a:ext cx="10058400" cy="475488"/>
          </a:xfrm>
          <a:prstGeom prst="roundRect">
            <a:avLst>
              <a:gd name="adj" fmla="val 7692"/>
            </a:avLst>
          </a:prstGeom>
          <a:solidFill>
            <a:srgbClr val="FDECEC"/>
          </a:solidFill>
          <a:ln w="12700">
            <a:solidFill>
              <a:srgbClr val="F1C8C8"/>
            </a:solidFill>
            <a:prstDash val="solid"/>
          </a:ln>
        </p:spPr>
      </p:sp>
      <p:sp>
        <p:nvSpPr>
          <p:cNvPr id="18" name="Text 15"/>
          <p:cNvSpPr/>
          <p:nvPr/>
        </p:nvSpPr>
        <p:spPr>
          <a:xfrm>
            <a:off x="1298448" y="5943600"/>
            <a:ext cx="1234440" cy="164592"/>
          </a:xfrm>
          <a:prstGeom prst="rect">
            <a:avLst/>
          </a:prstGeom>
          <a:noFill/>
          <a:ln/>
        </p:spPr>
        <p:txBody>
          <a:bodyPr wrap="square" lIns="0" tIns="0" rIns="0" bIns="0" rtlCol="0" anchor="ctr"/>
          <a:lstStyle/>
          <a:p>
            <a:pPr marL="0" indent="0">
              <a:buNone/>
            </a:pPr>
            <a:r>
              <a:rPr lang="en-US" sz="950" b="1" dirty="0">
                <a:solidFill>
                  <a:srgbClr val="B33A3A"/>
                </a:solidFill>
              </a:rPr>
              <a:t>LÍMITE HONESTO</a:t>
            </a:r>
            <a:endParaRPr lang="en-US" sz="950" dirty="0"/>
          </a:p>
        </p:txBody>
      </p:sp>
      <p:sp>
        <p:nvSpPr>
          <p:cNvPr id="19" name="Text 16"/>
          <p:cNvSpPr/>
          <p:nvPr/>
        </p:nvSpPr>
        <p:spPr>
          <a:xfrm>
            <a:off x="2542032" y="5879592"/>
            <a:ext cx="8092440" cy="256032"/>
          </a:xfrm>
          <a:prstGeom prst="rect">
            <a:avLst/>
          </a:prstGeom>
          <a:noFill/>
          <a:ln/>
        </p:spPr>
        <p:txBody>
          <a:bodyPr wrap="square" lIns="0" tIns="0" rIns="0" bIns="0" rtlCol="0" anchor="ctr">
            <a:normAutofit/>
          </a:bodyPr>
          <a:lstStyle/>
          <a:p>
            <a:pPr marL="0" indent="0">
              <a:buNone/>
            </a:pPr>
            <a:r>
              <a:rPr lang="en-US" sz="1220" b="1" dirty="0">
                <a:solidFill>
                  <a:srgbClr val="1E1E1E"/>
                </a:solidFill>
              </a:rPr>
              <a:t>Consultas telegráficas: 84,62 %. No se forzó el sistema; se documentó como limitación conocida.</a:t>
            </a:r>
            <a:endParaRPr lang="en-US" sz="122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 xmlns:ma14="http://schemas.microsoft.com/office/mac/drawingml/2011/main" val="0"/>
            </a:ext>
          </a:extLst>
        </p:spPr>
        <p:txBody>
          <a:bodyPr/>
          <a:lstStyle>
            <a:lvl1pPr>
              <a:defRPr sz="750">
                <a:solidFill>
                  <a:srgbClr val="6E6E6E"/>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566928"/>
            <a:ext cx="11155680" cy="566928"/>
          </a:xfrm>
          <a:prstGeom prst="rect">
            <a:avLst/>
          </a:prstGeom>
          <a:noFill/>
          <a:ln/>
        </p:spPr>
        <p:txBody>
          <a:bodyPr wrap="square" lIns="0" tIns="0" rIns="0" bIns="0" rtlCol="0" anchor="ctr">
            <a:normAutofit/>
          </a:bodyPr>
          <a:lstStyle/>
          <a:p>
            <a:pPr marL="0" indent="0">
              <a:buNone/>
            </a:pPr>
            <a:r>
              <a:rPr lang="en-US" sz="2800" b="1" dirty="0">
                <a:solidFill>
                  <a:srgbClr val="1E1E1E"/>
                </a:solidFill>
                <a:latin typeface="Aptos Display" pitchFamily="34" charset="0"/>
                <a:ea typeface="Aptos Display" pitchFamily="34" charset="-122"/>
                <a:cs typeface="Aptos Display" pitchFamily="34" charset="-120"/>
              </a:rPr>
              <a:t>La confianza es parte del producto</a:t>
            </a:r>
            <a:endParaRPr lang="en-US" sz="2800" dirty="0"/>
          </a:p>
        </p:txBody>
      </p:sp>
      <p:sp>
        <p:nvSpPr>
          <p:cNvPr id="3" name="Text 1"/>
          <p:cNvSpPr/>
          <p:nvPr/>
        </p:nvSpPr>
        <p:spPr>
          <a:xfrm>
            <a:off x="512064" y="1152144"/>
            <a:ext cx="10881360" cy="347472"/>
          </a:xfrm>
          <a:prstGeom prst="rect">
            <a:avLst/>
          </a:prstGeom>
          <a:noFill/>
          <a:ln/>
        </p:spPr>
        <p:txBody>
          <a:bodyPr wrap="square" lIns="0" tIns="0" rIns="0" bIns="0" rtlCol="0" anchor="ctr">
            <a:normAutofit/>
          </a:bodyPr>
          <a:lstStyle/>
          <a:p>
            <a:pPr marL="0" indent="0">
              <a:buNone/>
            </a:pPr>
            <a:r>
              <a:rPr lang="en-US" sz="1250" dirty="0">
                <a:solidFill>
                  <a:srgbClr val="666666"/>
                </a:solidFill>
              </a:rPr>
              <a:t>Ética, privacidad y supervisión reducen el riesgo de adopción.</a:t>
            </a:r>
            <a:endParaRPr lang="en-US" sz="1250" dirty="0"/>
          </a:p>
        </p:txBody>
      </p:sp>
      <p:sp>
        <p:nvSpPr>
          <p:cNvPr id="4" name="Shape 2"/>
          <p:cNvSpPr/>
          <p:nvPr/>
        </p:nvSpPr>
        <p:spPr>
          <a:xfrm>
            <a:off x="731520" y="1737360"/>
            <a:ext cx="5166360" cy="1536192"/>
          </a:xfrm>
          <a:prstGeom prst="roundRect">
            <a:avLst>
              <a:gd name="adj" fmla="val 4762"/>
            </a:avLst>
          </a:prstGeom>
          <a:solidFill>
            <a:srgbClr val="FFFFFF"/>
          </a:solidFill>
          <a:ln w="12700">
            <a:solidFill>
              <a:srgbClr val="D8D0C6"/>
            </a:solidFill>
            <a:prstDash val="solid"/>
          </a:ln>
        </p:spPr>
      </p:sp>
      <p:sp>
        <p:nvSpPr>
          <p:cNvPr id="5" name="Shape 3"/>
          <p:cNvSpPr/>
          <p:nvPr/>
        </p:nvSpPr>
        <p:spPr>
          <a:xfrm>
            <a:off x="731520" y="1737360"/>
            <a:ext cx="82296" cy="1536192"/>
          </a:xfrm>
          <a:prstGeom prst="rect">
            <a:avLst/>
          </a:prstGeom>
          <a:solidFill>
            <a:srgbClr val="7B1736"/>
          </a:solidFill>
          <a:ln w="12700">
            <a:solidFill>
              <a:srgbClr val="7B1736"/>
            </a:solidFill>
            <a:prstDash val="solid"/>
          </a:ln>
        </p:spPr>
      </p:sp>
      <p:sp>
        <p:nvSpPr>
          <p:cNvPr id="6" name="Text 4"/>
          <p:cNvSpPr/>
          <p:nvPr/>
        </p:nvSpPr>
        <p:spPr>
          <a:xfrm>
            <a:off x="987552" y="1965960"/>
            <a:ext cx="2377440" cy="256032"/>
          </a:xfrm>
          <a:prstGeom prst="rect">
            <a:avLst/>
          </a:prstGeom>
          <a:noFill/>
          <a:ln/>
        </p:spPr>
        <p:txBody>
          <a:bodyPr wrap="square" lIns="0" tIns="0" rIns="0" bIns="0" rtlCol="0" anchor="ctr"/>
          <a:lstStyle/>
          <a:p>
            <a:pPr marL="0" indent="0">
              <a:buNone/>
            </a:pPr>
            <a:r>
              <a:rPr lang="en-US" sz="1300" b="1" dirty="0">
                <a:solidFill>
                  <a:srgbClr val="7B1736"/>
                </a:solidFill>
              </a:rPr>
              <a:t>PRIVACIDAD</a:t>
            </a:r>
            <a:endParaRPr lang="en-US" sz="1300" dirty="0"/>
          </a:p>
        </p:txBody>
      </p:sp>
      <p:sp>
        <p:nvSpPr>
          <p:cNvPr id="7" name="Text 5"/>
          <p:cNvSpPr/>
          <p:nvPr/>
        </p:nvSpPr>
        <p:spPr>
          <a:xfrm>
            <a:off x="987552" y="2359152"/>
            <a:ext cx="4590288" cy="658368"/>
          </a:xfrm>
          <a:prstGeom prst="rect">
            <a:avLst/>
          </a:prstGeom>
          <a:noFill/>
          <a:ln/>
        </p:spPr>
        <p:txBody>
          <a:bodyPr wrap="square" lIns="0" tIns="0" rIns="0" bIns="0" rtlCol="0" anchor="ctr">
            <a:normAutofit/>
          </a:bodyPr>
          <a:lstStyle/>
          <a:p>
            <a:pPr marL="0" indent="0">
              <a:buNone/>
            </a:pPr>
            <a:r>
              <a:rPr lang="en-US" sz="1550" dirty="0">
                <a:solidFill>
                  <a:srgbClr val="1E1E1E"/>
                </a:solidFill>
              </a:rPr>
              <a:t>Arquitectura principal local/on-premise. Cloud solo con datos sintéticos o autorizados.</a:t>
            </a:r>
            <a:endParaRPr lang="en-US" sz="1550" dirty="0"/>
          </a:p>
        </p:txBody>
      </p:sp>
      <p:sp>
        <p:nvSpPr>
          <p:cNvPr id="8" name="Shape 6"/>
          <p:cNvSpPr/>
          <p:nvPr/>
        </p:nvSpPr>
        <p:spPr>
          <a:xfrm>
            <a:off x="6263640" y="1737360"/>
            <a:ext cx="5166360" cy="1536192"/>
          </a:xfrm>
          <a:prstGeom prst="roundRect">
            <a:avLst>
              <a:gd name="adj" fmla="val 4762"/>
            </a:avLst>
          </a:prstGeom>
          <a:solidFill>
            <a:srgbClr val="FFFFFF"/>
          </a:solidFill>
          <a:ln w="12700">
            <a:solidFill>
              <a:srgbClr val="D8D0C6"/>
            </a:solidFill>
            <a:prstDash val="solid"/>
          </a:ln>
        </p:spPr>
      </p:sp>
      <p:sp>
        <p:nvSpPr>
          <p:cNvPr id="9" name="Shape 7"/>
          <p:cNvSpPr/>
          <p:nvPr/>
        </p:nvSpPr>
        <p:spPr>
          <a:xfrm>
            <a:off x="6263640" y="1737360"/>
            <a:ext cx="82296" cy="1536192"/>
          </a:xfrm>
          <a:prstGeom prst="rect">
            <a:avLst/>
          </a:prstGeom>
          <a:solidFill>
            <a:srgbClr val="2C5D8A"/>
          </a:solidFill>
          <a:ln w="12700">
            <a:solidFill>
              <a:srgbClr val="2C5D8A"/>
            </a:solidFill>
            <a:prstDash val="solid"/>
          </a:ln>
        </p:spPr>
      </p:sp>
      <p:sp>
        <p:nvSpPr>
          <p:cNvPr id="10" name="Text 8"/>
          <p:cNvSpPr/>
          <p:nvPr/>
        </p:nvSpPr>
        <p:spPr>
          <a:xfrm>
            <a:off x="6519672" y="1965960"/>
            <a:ext cx="2377440" cy="256032"/>
          </a:xfrm>
          <a:prstGeom prst="rect">
            <a:avLst/>
          </a:prstGeom>
          <a:noFill/>
          <a:ln/>
        </p:spPr>
        <p:txBody>
          <a:bodyPr wrap="square" lIns="0" tIns="0" rIns="0" bIns="0" rtlCol="0" anchor="ctr"/>
          <a:lstStyle/>
          <a:p>
            <a:pPr marL="0" indent="0">
              <a:buNone/>
            </a:pPr>
            <a:r>
              <a:rPr lang="en-US" sz="1300" b="1" dirty="0">
                <a:solidFill>
                  <a:srgbClr val="2C5D8A"/>
                </a:solidFill>
              </a:rPr>
              <a:t>TRANSPARENCIA</a:t>
            </a:r>
            <a:endParaRPr lang="en-US" sz="1300" dirty="0"/>
          </a:p>
        </p:txBody>
      </p:sp>
      <p:sp>
        <p:nvSpPr>
          <p:cNvPr id="11" name="Text 9"/>
          <p:cNvSpPr/>
          <p:nvPr/>
        </p:nvSpPr>
        <p:spPr>
          <a:xfrm>
            <a:off x="6519672" y="2359152"/>
            <a:ext cx="4590288" cy="658368"/>
          </a:xfrm>
          <a:prstGeom prst="rect">
            <a:avLst/>
          </a:prstGeom>
          <a:noFill/>
          <a:ln/>
        </p:spPr>
        <p:txBody>
          <a:bodyPr wrap="square" lIns="0" tIns="0" rIns="0" bIns="0" rtlCol="0" anchor="ctr">
            <a:normAutofit/>
          </a:bodyPr>
          <a:lstStyle/>
          <a:p>
            <a:pPr marL="0" indent="0">
              <a:buNone/>
            </a:pPr>
            <a:r>
              <a:rPr lang="en-US" sz="1550" dirty="0">
                <a:solidFill>
                  <a:srgbClr val="1E1E1E"/>
                </a:solidFill>
              </a:rPr>
              <a:t>Fuentes visibles, historial y auditoría para revisar cómo se sustentó una respuesta.</a:t>
            </a:r>
            <a:endParaRPr lang="en-US" sz="1550" dirty="0"/>
          </a:p>
        </p:txBody>
      </p:sp>
      <p:sp>
        <p:nvSpPr>
          <p:cNvPr id="12" name="Shape 10"/>
          <p:cNvSpPr/>
          <p:nvPr/>
        </p:nvSpPr>
        <p:spPr>
          <a:xfrm>
            <a:off x="731520" y="3886200"/>
            <a:ext cx="5166360" cy="1536192"/>
          </a:xfrm>
          <a:prstGeom prst="roundRect">
            <a:avLst>
              <a:gd name="adj" fmla="val 4762"/>
            </a:avLst>
          </a:prstGeom>
          <a:solidFill>
            <a:srgbClr val="FFFFFF"/>
          </a:solidFill>
          <a:ln w="12700">
            <a:solidFill>
              <a:srgbClr val="D8D0C6"/>
            </a:solidFill>
            <a:prstDash val="solid"/>
          </a:ln>
        </p:spPr>
      </p:sp>
      <p:sp>
        <p:nvSpPr>
          <p:cNvPr id="13" name="Shape 11"/>
          <p:cNvSpPr/>
          <p:nvPr/>
        </p:nvSpPr>
        <p:spPr>
          <a:xfrm>
            <a:off x="731520" y="3886200"/>
            <a:ext cx="82296" cy="1536192"/>
          </a:xfrm>
          <a:prstGeom prst="rect">
            <a:avLst/>
          </a:prstGeom>
          <a:solidFill>
            <a:srgbClr val="B33A3A"/>
          </a:solidFill>
          <a:ln w="12700">
            <a:solidFill>
              <a:srgbClr val="B33A3A"/>
            </a:solidFill>
            <a:prstDash val="solid"/>
          </a:ln>
        </p:spPr>
      </p:sp>
      <p:sp>
        <p:nvSpPr>
          <p:cNvPr id="14" name="Text 12"/>
          <p:cNvSpPr/>
          <p:nvPr/>
        </p:nvSpPr>
        <p:spPr>
          <a:xfrm>
            <a:off x="987552" y="4114800"/>
            <a:ext cx="2377440" cy="256032"/>
          </a:xfrm>
          <a:prstGeom prst="rect">
            <a:avLst/>
          </a:prstGeom>
          <a:noFill/>
          <a:ln/>
        </p:spPr>
        <p:txBody>
          <a:bodyPr wrap="square" lIns="0" tIns="0" rIns="0" bIns="0" rtlCol="0" anchor="ctr"/>
          <a:lstStyle/>
          <a:p>
            <a:pPr marL="0" indent="0">
              <a:buNone/>
            </a:pPr>
            <a:r>
              <a:rPr lang="en-US" sz="1300" b="1" dirty="0">
                <a:solidFill>
                  <a:srgbClr val="B33A3A"/>
                </a:solidFill>
              </a:rPr>
              <a:t>ABSTENCIÓN</a:t>
            </a:r>
            <a:endParaRPr lang="en-US" sz="1300" dirty="0"/>
          </a:p>
        </p:txBody>
      </p:sp>
      <p:sp>
        <p:nvSpPr>
          <p:cNvPr id="15" name="Text 13"/>
          <p:cNvSpPr/>
          <p:nvPr/>
        </p:nvSpPr>
        <p:spPr>
          <a:xfrm>
            <a:off x="987552" y="4507992"/>
            <a:ext cx="4590288" cy="658368"/>
          </a:xfrm>
          <a:prstGeom prst="rect">
            <a:avLst/>
          </a:prstGeom>
          <a:noFill/>
          <a:ln/>
        </p:spPr>
        <p:txBody>
          <a:bodyPr wrap="square" lIns="0" tIns="0" rIns="0" bIns="0" rtlCol="0" anchor="ctr">
            <a:normAutofit/>
          </a:bodyPr>
          <a:lstStyle/>
          <a:p>
            <a:pPr marL="0" indent="0">
              <a:buNone/>
            </a:pPr>
            <a:r>
              <a:rPr lang="en-US" sz="1550" dirty="0">
                <a:solidFill>
                  <a:srgbClr val="1E1E1E"/>
                </a:solidFill>
              </a:rPr>
              <a:t>Si la evidencia no es suficiente, el sistema puede no responder en lugar de inventar.</a:t>
            </a:r>
            <a:endParaRPr lang="en-US" sz="1550" dirty="0"/>
          </a:p>
        </p:txBody>
      </p:sp>
      <p:sp>
        <p:nvSpPr>
          <p:cNvPr id="16" name="Shape 14"/>
          <p:cNvSpPr/>
          <p:nvPr/>
        </p:nvSpPr>
        <p:spPr>
          <a:xfrm>
            <a:off x="6263640" y="3886200"/>
            <a:ext cx="5166360" cy="1536192"/>
          </a:xfrm>
          <a:prstGeom prst="roundRect">
            <a:avLst>
              <a:gd name="adj" fmla="val 4762"/>
            </a:avLst>
          </a:prstGeom>
          <a:solidFill>
            <a:srgbClr val="FFFFFF"/>
          </a:solidFill>
          <a:ln w="12700">
            <a:solidFill>
              <a:srgbClr val="D8D0C6"/>
            </a:solidFill>
            <a:prstDash val="solid"/>
          </a:ln>
        </p:spPr>
      </p:sp>
      <p:sp>
        <p:nvSpPr>
          <p:cNvPr id="17" name="Shape 15"/>
          <p:cNvSpPr/>
          <p:nvPr/>
        </p:nvSpPr>
        <p:spPr>
          <a:xfrm>
            <a:off x="6263640" y="3886200"/>
            <a:ext cx="82296" cy="1536192"/>
          </a:xfrm>
          <a:prstGeom prst="rect">
            <a:avLst/>
          </a:prstGeom>
          <a:solidFill>
            <a:srgbClr val="2F7D57"/>
          </a:solidFill>
          <a:ln w="12700">
            <a:solidFill>
              <a:srgbClr val="2F7D57"/>
            </a:solidFill>
            <a:prstDash val="solid"/>
          </a:ln>
        </p:spPr>
      </p:sp>
      <p:sp>
        <p:nvSpPr>
          <p:cNvPr id="18" name="Text 16"/>
          <p:cNvSpPr/>
          <p:nvPr/>
        </p:nvSpPr>
        <p:spPr>
          <a:xfrm>
            <a:off x="6519672" y="4114800"/>
            <a:ext cx="2377440" cy="256032"/>
          </a:xfrm>
          <a:prstGeom prst="rect">
            <a:avLst/>
          </a:prstGeom>
          <a:noFill/>
          <a:ln/>
        </p:spPr>
        <p:txBody>
          <a:bodyPr wrap="square" lIns="0" tIns="0" rIns="0" bIns="0" rtlCol="0" anchor="ctr"/>
          <a:lstStyle/>
          <a:p>
            <a:pPr marL="0" indent="0">
              <a:buNone/>
            </a:pPr>
            <a:r>
              <a:rPr lang="en-US" sz="1300" b="1" dirty="0">
                <a:solidFill>
                  <a:srgbClr val="2F7D57"/>
                </a:solidFill>
              </a:rPr>
              <a:t>SUPERVISIÓN HUMANA</a:t>
            </a:r>
            <a:endParaRPr lang="en-US" sz="1300" dirty="0"/>
          </a:p>
        </p:txBody>
      </p:sp>
      <p:sp>
        <p:nvSpPr>
          <p:cNvPr id="19" name="Text 17"/>
          <p:cNvSpPr/>
          <p:nvPr/>
        </p:nvSpPr>
        <p:spPr>
          <a:xfrm>
            <a:off x="6519672" y="4507992"/>
            <a:ext cx="4590288" cy="658368"/>
          </a:xfrm>
          <a:prstGeom prst="rect">
            <a:avLst/>
          </a:prstGeom>
          <a:noFill/>
          <a:ln/>
        </p:spPr>
        <p:txBody>
          <a:bodyPr wrap="square" lIns="0" tIns="0" rIns="0" bIns="0" rtlCol="0" anchor="ctr">
            <a:normAutofit/>
          </a:bodyPr>
          <a:lstStyle/>
          <a:p>
            <a:pPr marL="0" indent="0">
              <a:buNone/>
            </a:pPr>
            <a:r>
              <a:rPr lang="en-US" sz="1550" dirty="0">
                <a:solidFill>
                  <a:srgbClr val="1E1E1E"/>
                </a:solidFill>
              </a:rPr>
              <a:t>Criticidad y decisión final permanecen en personal autorizado, nunca en el modelo.</a:t>
            </a:r>
            <a:endParaRPr lang="en-US" sz="1550" dirty="0"/>
          </a:p>
        </p:txBody>
      </p:sp>
      <p:sp>
        <p:nvSpPr>
          <p:cNvPr id="20" name="Text 18"/>
          <p:cNvSpPr/>
          <p:nvPr/>
        </p:nvSpPr>
        <p:spPr>
          <a:xfrm>
            <a:off x="1097280" y="5742432"/>
            <a:ext cx="9966960" cy="420624"/>
          </a:xfrm>
          <a:prstGeom prst="rect">
            <a:avLst/>
          </a:prstGeom>
          <a:noFill/>
          <a:ln/>
        </p:spPr>
        <p:txBody>
          <a:bodyPr wrap="square" lIns="0" tIns="0" rIns="0" bIns="0" rtlCol="0" anchor="ctr">
            <a:normAutofit/>
          </a:bodyPr>
          <a:lstStyle/>
          <a:p>
            <a:pPr marL="0" indent="0" algn="ctr">
              <a:buNone/>
            </a:pPr>
            <a:r>
              <a:rPr lang="en-US" sz="1800" b="1" dirty="0">
                <a:solidFill>
                  <a:srgbClr val="7B1736"/>
                </a:solidFill>
              </a:rPr>
              <a:t>Una IA útil no solo responde bien: también deja claro cuándo no sabe y quién decide.</a:t>
            </a:r>
            <a:endParaRPr lang="en-US" sz="180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 xmlns:ma14="http://schemas.microsoft.com/office/mac/drawingml/2011/main" val="0"/>
            </a:ext>
          </a:extLst>
        </p:spPr>
        <p:txBody>
          <a:bodyPr/>
          <a:lstStyle>
            <a:lvl1pPr>
              <a:defRPr sz="750">
                <a:solidFill>
                  <a:srgbClr val="6E6E6E"/>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566928"/>
            <a:ext cx="11155680" cy="566928"/>
          </a:xfrm>
          <a:prstGeom prst="rect">
            <a:avLst/>
          </a:prstGeom>
          <a:noFill/>
          <a:ln/>
        </p:spPr>
        <p:txBody>
          <a:bodyPr wrap="square" lIns="0" tIns="0" rIns="0" bIns="0" rtlCol="0" anchor="ctr">
            <a:normAutofit/>
          </a:bodyPr>
          <a:lstStyle/>
          <a:p>
            <a:pPr marL="0" indent="0">
              <a:buNone/>
            </a:pPr>
            <a:r>
              <a:rPr lang="en-US" sz="2800" b="1" dirty="0">
                <a:solidFill>
                  <a:srgbClr val="1E1E1E"/>
                </a:solidFill>
                <a:latin typeface="Aptos Display" pitchFamily="34" charset="0"/>
                <a:ea typeface="Aptos Display" pitchFamily="34" charset="-122"/>
                <a:cs typeface="Aptos Display" pitchFamily="34" charset="-120"/>
              </a:rPr>
              <a:t>Impacto esperado y siguiente paso</a:t>
            </a:r>
            <a:endParaRPr lang="en-US" sz="2800" dirty="0"/>
          </a:p>
        </p:txBody>
      </p:sp>
      <p:sp>
        <p:nvSpPr>
          <p:cNvPr id="3" name="Text 1"/>
          <p:cNvSpPr/>
          <p:nvPr/>
        </p:nvSpPr>
        <p:spPr>
          <a:xfrm>
            <a:off x="512064" y="1152144"/>
            <a:ext cx="10881360" cy="347472"/>
          </a:xfrm>
          <a:prstGeom prst="rect">
            <a:avLst/>
          </a:prstGeom>
          <a:noFill/>
          <a:ln/>
        </p:spPr>
        <p:txBody>
          <a:bodyPr wrap="square" lIns="0" tIns="0" rIns="0" bIns="0" rtlCol="0" anchor="ctr">
            <a:normAutofit/>
          </a:bodyPr>
          <a:lstStyle/>
          <a:p>
            <a:pPr marL="0" indent="0">
              <a:buNone/>
            </a:pPr>
            <a:r>
              <a:rPr lang="en-US" sz="1250" dirty="0">
                <a:solidFill>
                  <a:srgbClr val="666666"/>
                </a:solidFill>
              </a:rPr>
              <a:t>No inventamos el ahorro: proponemos medirlo en un piloto controlado.</a:t>
            </a:r>
            <a:endParaRPr lang="en-US" sz="1250" dirty="0"/>
          </a:p>
        </p:txBody>
      </p:sp>
      <p:sp>
        <p:nvSpPr>
          <p:cNvPr id="4" name="Shape 2"/>
          <p:cNvSpPr/>
          <p:nvPr/>
        </p:nvSpPr>
        <p:spPr>
          <a:xfrm>
            <a:off x="658368" y="1737360"/>
            <a:ext cx="4956048" cy="3639312"/>
          </a:xfrm>
          <a:prstGeom prst="roundRect">
            <a:avLst>
              <a:gd name="adj" fmla="val 2010"/>
            </a:avLst>
          </a:prstGeom>
          <a:solidFill>
            <a:srgbClr val="FFFFFF"/>
          </a:solidFill>
          <a:ln w="12700">
            <a:solidFill>
              <a:srgbClr val="D8D0C6"/>
            </a:solidFill>
            <a:prstDash val="solid"/>
          </a:ln>
        </p:spPr>
      </p:sp>
      <p:sp>
        <p:nvSpPr>
          <p:cNvPr id="5" name="Text 3"/>
          <p:cNvSpPr/>
          <p:nvPr/>
        </p:nvSpPr>
        <p:spPr>
          <a:xfrm>
            <a:off x="941832" y="1993392"/>
            <a:ext cx="2286000" cy="256032"/>
          </a:xfrm>
          <a:prstGeom prst="rect">
            <a:avLst/>
          </a:prstGeom>
          <a:noFill/>
          <a:ln/>
        </p:spPr>
        <p:txBody>
          <a:bodyPr wrap="square" lIns="0" tIns="0" rIns="0" bIns="0" rtlCol="0" anchor="ctr"/>
          <a:lstStyle/>
          <a:p>
            <a:pPr marL="0" indent="0">
              <a:buNone/>
            </a:pPr>
            <a:r>
              <a:rPr lang="en-US" sz="1300" b="1" dirty="0">
                <a:solidFill>
                  <a:srgbClr val="7B1736"/>
                </a:solidFill>
              </a:rPr>
              <a:t>IMPACTO ESPERADO</a:t>
            </a:r>
            <a:endParaRPr lang="en-US" sz="1300" dirty="0"/>
          </a:p>
        </p:txBody>
      </p:sp>
      <p:sp>
        <p:nvSpPr>
          <p:cNvPr id="6" name="Shape 4"/>
          <p:cNvSpPr/>
          <p:nvPr/>
        </p:nvSpPr>
        <p:spPr>
          <a:xfrm>
            <a:off x="950976" y="2569464"/>
            <a:ext cx="237744" cy="237744"/>
          </a:xfrm>
          <a:prstGeom prst="ellipse">
            <a:avLst/>
          </a:prstGeom>
          <a:solidFill>
            <a:srgbClr val="E3B341"/>
          </a:solidFill>
          <a:ln w="12700">
            <a:solidFill>
              <a:srgbClr val="E3B341"/>
            </a:solidFill>
            <a:prstDash val="solid"/>
          </a:ln>
        </p:spPr>
      </p:sp>
      <p:sp>
        <p:nvSpPr>
          <p:cNvPr id="7" name="Text 5"/>
          <p:cNvSpPr/>
          <p:nvPr/>
        </p:nvSpPr>
        <p:spPr>
          <a:xfrm>
            <a:off x="1325880" y="2542032"/>
            <a:ext cx="1508760" cy="228600"/>
          </a:xfrm>
          <a:prstGeom prst="rect">
            <a:avLst/>
          </a:prstGeom>
          <a:noFill/>
          <a:ln/>
        </p:spPr>
        <p:txBody>
          <a:bodyPr wrap="square" lIns="0" tIns="0" rIns="0" bIns="0" rtlCol="0" anchor="ctr"/>
          <a:lstStyle/>
          <a:p>
            <a:pPr marL="0" indent="0">
              <a:buNone/>
            </a:pPr>
            <a:r>
              <a:rPr lang="en-US" sz="1500" b="1" dirty="0">
                <a:solidFill>
                  <a:srgbClr val="1E1E1E"/>
                </a:solidFill>
              </a:rPr>
              <a:t>Menos tiempo</a:t>
            </a:r>
            <a:endParaRPr lang="en-US" sz="1500" dirty="0"/>
          </a:p>
        </p:txBody>
      </p:sp>
      <p:sp>
        <p:nvSpPr>
          <p:cNvPr id="8" name="Text 6"/>
          <p:cNvSpPr/>
          <p:nvPr/>
        </p:nvSpPr>
        <p:spPr>
          <a:xfrm>
            <a:off x="2743200" y="2523744"/>
            <a:ext cx="2468880" cy="475488"/>
          </a:xfrm>
          <a:prstGeom prst="rect">
            <a:avLst/>
          </a:prstGeom>
          <a:noFill/>
          <a:ln/>
        </p:spPr>
        <p:txBody>
          <a:bodyPr wrap="square" lIns="0" tIns="0" rIns="0" bIns="0" rtlCol="0" anchor="ctr">
            <a:normAutofit/>
          </a:bodyPr>
          <a:lstStyle/>
          <a:p>
            <a:pPr marL="0" indent="0">
              <a:buNone/>
            </a:pPr>
            <a:r>
              <a:rPr lang="en-US" sz="1350" dirty="0">
                <a:solidFill>
                  <a:srgbClr val="666666"/>
                </a:solidFill>
              </a:rPr>
              <a:t>buscando antecedentes y verificando versiones.</a:t>
            </a:r>
            <a:endParaRPr lang="en-US" sz="1350" dirty="0"/>
          </a:p>
        </p:txBody>
      </p:sp>
      <p:sp>
        <p:nvSpPr>
          <p:cNvPr id="9" name="Shape 7"/>
          <p:cNvSpPr/>
          <p:nvPr/>
        </p:nvSpPr>
        <p:spPr>
          <a:xfrm>
            <a:off x="950976" y="3392424"/>
            <a:ext cx="237744" cy="237744"/>
          </a:xfrm>
          <a:prstGeom prst="ellipse">
            <a:avLst/>
          </a:prstGeom>
          <a:solidFill>
            <a:srgbClr val="E3B341"/>
          </a:solidFill>
          <a:ln w="12700">
            <a:solidFill>
              <a:srgbClr val="E3B341"/>
            </a:solidFill>
            <a:prstDash val="solid"/>
          </a:ln>
        </p:spPr>
      </p:sp>
      <p:sp>
        <p:nvSpPr>
          <p:cNvPr id="10" name="Text 8"/>
          <p:cNvSpPr/>
          <p:nvPr/>
        </p:nvSpPr>
        <p:spPr>
          <a:xfrm>
            <a:off x="1325880" y="3364992"/>
            <a:ext cx="1508760" cy="228600"/>
          </a:xfrm>
          <a:prstGeom prst="rect">
            <a:avLst/>
          </a:prstGeom>
          <a:noFill/>
          <a:ln/>
        </p:spPr>
        <p:txBody>
          <a:bodyPr wrap="square" lIns="0" tIns="0" rIns="0" bIns="0" rtlCol="0" anchor="ctr"/>
          <a:lstStyle/>
          <a:p>
            <a:pPr marL="0" indent="0">
              <a:buNone/>
            </a:pPr>
            <a:r>
              <a:rPr lang="en-US" sz="1500" b="1" dirty="0">
                <a:solidFill>
                  <a:srgbClr val="1E1E1E"/>
                </a:solidFill>
              </a:rPr>
              <a:t>Más trazabilidad</a:t>
            </a:r>
            <a:endParaRPr lang="en-US" sz="1500" dirty="0"/>
          </a:p>
        </p:txBody>
      </p:sp>
      <p:sp>
        <p:nvSpPr>
          <p:cNvPr id="11" name="Text 9"/>
          <p:cNvSpPr/>
          <p:nvPr/>
        </p:nvSpPr>
        <p:spPr>
          <a:xfrm>
            <a:off x="2743200" y="3346704"/>
            <a:ext cx="2468880" cy="475488"/>
          </a:xfrm>
          <a:prstGeom prst="rect">
            <a:avLst/>
          </a:prstGeom>
          <a:noFill/>
          <a:ln/>
        </p:spPr>
        <p:txBody>
          <a:bodyPr wrap="square" lIns="0" tIns="0" rIns="0" bIns="0" rtlCol="0" anchor="ctr">
            <a:normAutofit/>
          </a:bodyPr>
          <a:lstStyle/>
          <a:p>
            <a:pPr marL="0" indent="0">
              <a:buNone/>
            </a:pPr>
            <a:r>
              <a:rPr lang="en-US" sz="1350" dirty="0">
                <a:solidFill>
                  <a:srgbClr val="666666"/>
                </a:solidFill>
              </a:rPr>
              <a:t>cada respuesta conserva fuente, evidencia e historial.</a:t>
            </a:r>
            <a:endParaRPr lang="en-US" sz="1350" dirty="0"/>
          </a:p>
        </p:txBody>
      </p:sp>
      <p:sp>
        <p:nvSpPr>
          <p:cNvPr id="12" name="Shape 10"/>
          <p:cNvSpPr/>
          <p:nvPr/>
        </p:nvSpPr>
        <p:spPr>
          <a:xfrm>
            <a:off x="950976" y="4215384"/>
            <a:ext cx="237744" cy="237744"/>
          </a:xfrm>
          <a:prstGeom prst="ellipse">
            <a:avLst/>
          </a:prstGeom>
          <a:solidFill>
            <a:srgbClr val="E3B341"/>
          </a:solidFill>
          <a:ln w="12700">
            <a:solidFill>
              <a:srgbClr val="E3B341"/>
            </a:solidFill>
            <a:prstDash val="solid"/>
          </a:ln>
        </p:spPr>
      </p:sp>
      <p:sp>
        <p:nvSpPr>
          <p:cNvPr id="13" name="Text 11"/>
          <p:cNvSpPr/>
          <p:nvPr/>
        </p:nvSpPr>
        <p:spPr>
          <a:xfrm>
            <a:off x="1325880" y="4187952"/>
            <a:ext cx="1508760" cy="228600"/>
          </a:xfrm>
          <a:prstGeom prst="rect">
            <a:avLst/>
          </a:prstGeom>
          <a:noFill/>
          <a:ln/>
        </p:spPr>
        <p:txBody>
          <a:bodyPr wrap="square" lIns="0" tIns="0" rIns="0" bIns="0" rtlCol="0" anchor="ctr"/>
          <a:lstStyle/>
          <a:p>
            <a:pPr marL="0" indent="0">
              <a:buNone/>
            </a:pPr>
            <a:r>
              <a:rPr lang="en-US" sz="1500" b="1" dirty="0">
                <a:solidFill>
                  <a:srgbClr val="1E1E1E"/>
                </a:solidFill>
              </a:rPr>
              <a:t>Menos dependencia</a:t>
            </a:r>
            <a:endParaRPr lang="en-US" sz="1500" dirty="0"/>
          </a:p>
        </p:txBody>
      </p:sp>
      <p:sp>
        <p:nvSpPr>
          <p:cNvPr id="14" name="Text 12"/>
          <p:cNvSpPr/>
          <p:nvPr/>
        </p:nvSpPr>
        <p:spPr>
          <a:xfrm>
            <a:off x="2743200" y="4169664"/>
            <a:ext cx="2468880" cy="475488"/>
          </a:xfrm>
          <a:prstGeom prst="rect">
            <a:avLst/>
          </a:prstGeom>
          <a:noFill/>
          <a:ln/>
        </p:spPr>
        <p:txBody>
          <a:bodyPr wrap="square" lIns="0" tIns="0" rIns="0" bIns="0" rtlCol="0" anchor="ctr">
            <a:normAutofit/>
          </a:bodyPr>
          <a:lstStyle/>
          <a:p>
            <a:pPr marL="0" indent="0">
              <a:buNone/>
            </a:pPr>
            <a:r>
              <a:rPr lang="en-US" sz="1350" dirty="0">
                <a:solidFill>
                  <a:srgbClr val="666666"/>
                </a:solidFill>
              </a:rPr>
              <a:t>del conocimiento tácito de una sola persona.</a:t>
            </a:r>
            <a:endParaRPr lang="en-US" sz="1350" dirty="0"/>
          </a:p>
        </p:txBody>
      </p:sp>
      <p:sp>
        <p:nvSpPr>
          <p:cNvPr id="15" name="Text 13"/>
          <p:cNvSpPr/>
          <p:nvPr/>
        </p:nvSpPr>
        <p:spPr>
          <a:xfrm>
            <a:off x="950976" y="4882896"/>
            <a:ext cx="3474720" cy="256032"/>
          </a:xfrm>
          <a:prstGeom prst="rect">
            <a:avLst/>
          </a:prstGeom>
          <a:noFill/>
          <a:ln/>
        </p:spPr>
        <p:txBody>
          <a:bodyPr wrap="square" lIns="0" tIns="0" rIns="0" bIns="0" rtlCol="0" anchor="ctr"/>
          <a:lstStyle/>
          <a:p>
            <a:pPr marL="0" indent="0">
              <a:buNone/>
            </a:pPr>
            <a:r>
              <a:rPr lang="en-US" sz="1050" i="1" dirty="0">
                <a:solidFill>
                  <a:srgbClr val="B33A3A"/>
                </a:solidFill>
              </a:rPr>
              <a:t>Aún no medido en usuarios reales.</a:t>
            </a:r>
            <a:endParaRPr lang="en-US" sz="1050" dirty="0"/>
          </a:p>
        </p:txBody>
      </p:sp>
      <p:sp>
        <p:nvSpPr>
          <p:cNvPr id="16" name="Shape 14"/>
          <p:cNvSpPr/>
          <p:nvPr/>
        </p:nvSpPr>
        <p:spPr>
          <a:xfrm>
            <a:off x="5925312" y="1737360"/>
            <a:ext cx="5596128" cy="3639312"/>
          </a:xfrm>
          <a:prstGeom prst="roundRect">
            <a:avLst>
              <a:gd name="adj" fmla="val 2010"/>
            </a:avLst>
          </a:prstGeom>
          <a:solidFill>
            <a:srgbClr val="F9F5EF"/>
          </a:solidFill>
          <a:ln w="12700">
            <a:solidFill>
              <a:srgbClr val="D8D0C6"/>
            </a:solidFill>
            <a:prstDash val="solid"/>
          </a:ln>
        </p:spPr>
      </p:sp>
      <p:sp>
        <p:nvSpPr>
          <p:cNvPr id="17" name="Text 15"/>
          <p:cNvSpPr/>
          <p:nvPr/>
        </p:nvSpPr>
        <p:spPr>
          <a:xfrm>
            <a:off x="6254496" y="1993392"/>
            <a:ext cx="2377440" cy="256032"/>
          </a:xfrm>
          <a:prstGeom prst="rect">
            <a:avLst/>
          </a:prstGeom>
          <a:noFill/>
          <a:ln/>
        </p:spPr>
        <p:txBody>
          <a:bodyPr wrap="square" lIns="0" tIns="0" rIns="0" bIns="0" rtlCol="0" anchor="ctr"/>
          <a:lstStyle/>
          <a:p>
            <a:pPr marL="0" indent="0">
              <a:buNone/>
            </a:pPr>
            <a:r>
              <a:rPr lang="en-US" sz="1300" b="1" dirty="0">
                <a:solidFill>
                  <a:srgbClr val="2C5D8A"/>
                </a:solidFill>
              </a:rPr>
              <a:t>PILOTO CONTROLADO</a:t>
            </a:r>
            <a:endParaRPr lang="en-US" sz="1300" dirty="0"/>
          </a:p>
        </p:txBody>
      </p:sp>
      <p:sp>
        <p:nvSpPr>
          <p:cNvPr id="18" name="Shape 16"/>
          <p:cNvSpPr/>
          <p:nvPr/>
        </p:nvSpPr>
        <p:spPr>
          <a:xfrm>
            <a:off x="6254496" y="2532888"/>
            <a:ext cx="310896" cy="310896"/>
          </a:xfrm>
          <a:prstGeom prst="roundRect">
            <a:avLst>
              <a:gd name="adj" fmla="val 17647"/>
            </a:avLst>
          </a:prstGeom>
          <a:solidFill>
            <a:srgbClr val="2C5D8A"/>
          </a:solidFill>
          <a:ln w="12700">
            <a:solidFill>
              <a:srgbClr val="2C5D8A"/>
            </a:solidFill>
            <a:prstDash val="solid"/>
          </a:ln>
        </p:spPr>
      </p:sp>
      <p:sp>
        <p:nvSpPr>
          <p:cNvPr id="19" name="Text 17"/>
          <p:cNvSpPr/>
          <p:nvPr/>
        </p:nvSpPr>
        <p:spPr>
          <a:xfrm>
            <a:off x="6355080" y="2606040"/>
            <a:ext cx="109728" cy="10972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20" name="Text 18"/>
          <p:cNvSpPr/>
          <p:nvPr/>
        </p:nvSpPr>
        <p:spPr>
          <a:xfrm>
            <a:off x="6720840" y="2551176"/>
            <a:ext cx="4343400" cy="320040"/>
          </a:xfrm>
          <a:prstGeom prst="rect">
            <a:avLst/>
          </a:prstGeom>
          <a:noFill/>
          <a:ln/>
        </p:spPr>
        <p:txBody>
          <a:bodyPr wrap="square" lIns="0" tIns="0" rIns="0" bIns="0" rtlCol="0" anchor="ctr">
            <a:normAutofit/>
          </a:bodyPr>
          <a:lstStyle/>
          <a:p>
            <a:pPr marL="0" indent="0">
              <a:buNone/>
            </a:pPr>
            <a:r>
              <a:rPr lang="en-US" sz="1420" dirty="0">
                <a:solidFill>
                  <a:srgbClr val="1E1E1E"/>
                </a:solidFill>
              </a:rPr>
              <a:t>Usuarios autorizados</a:t>
            </a:r>
            <a:endParaRPr lang="en-US" sz="1420" dirty="0"/>
          </a:p>
        </p:txBody>
      </p:sp>
      <p:sp>
        <p:nvSpPr>
          <p:cNvPr id="21" name="Shape 19"/>
          <p:cNvSpPr/>
          <p:nvPr/>
        </p:nvSpPr>
        <p:spPr>
          <a:xfrm>
            <a:off x="6254496" y="3108960"/>
            <a:ext cx="310896" cy="310896"/>
          </a:xfrm>
          <a:prstGeom prst="roundRect">
            <a:avLst>
              <a:gd name="adj" fmla="val 17647"/>
            </a:avLst>
          </a:prstGeom>
          <a:solidFill>
            <a:srgbClr val="2C5D8A"/>
          </a:solidFill>
          <a:ln w="12700">
            <a:solidFill>
              <a:srgbClr val="2C5D8A"/>
            </a:solidFill>
            <a:prstDash val="solid"/>
          </a:ln>
        </p:spPr>
      </p:sp>
      <p:sp>
        <p:nvSpPr>
          <p:cNvPr id="22" name="Text 20"/>
          <p:cNvSpPr/>
          <p:nvPr/>
        </p:nvSpPr>
        <p:spPr>
          <a:xfrm>
            <a:off x="6355080" y="3182112"/>
            <a:ext cx="109728" cy="10972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23" name="Text 21"/>
          <p:cNvSpPr/>
          <p:nvPr/>
        </p:nvSpPr>
        <p:spPr>
          <a:xfrm>
            <a:off x="6720840" y="3127248"/>
            <a:ext cx="4343400" cy="320040"/>
          </a:xfrm>
          <a:prstGeom prst="rect">
            <a:avLst/>
          </a:prstGeom>
          <a:noFill/>
          <a:ln/>
        </p:spPr>
        <p:txBody>
          <a:bodyPr wrap="square" lIns="0" tIns="0" rIns="0" bIns="0" rtlCol="0" anchor="ctr">
            <a:normAutofit/>
          </a:bodyPr>
          <a:lstStyle/>
          <a:p>
            <a:pPr marL="0" indent="0">
              <a:buNone/>
            </a:pPr>
            <a:r>
              <a:rPr lang="en-US" sz="1420" dirty="0">
                <a:solidFill>
                  <a:srgbClr val="1E1E1E"/>
                </a:solidFill>
              </a:rPr>
              <a:t>50-100 preguntas reales</a:t>
            </a:r>
            <a:endParaRPr lang="en-US" sz="1420" dirty="0"/>
          </a:p>
        </p:txBody>
      </p:sp>
      <p:sp>
        <p:nvSpPr>
          <p:cNvPr id="24" name="Shape 22"/>
          <p:cNvSpPr/>
          <p:nvPr/>
        </p:nvSpPr>
        <p:spPr>
          <a:xfrm>
            <a:off x="6254496" y="3685032"/>
            <a:ext cx="310896" cy="310896"/>
          </a:xfrm>
          <a:prstGeom prst="roundRect">
            <a:avLst>
              <a:gd name="adj" fmla="val 17647"/>
            </a:avLst>
          </a:prstGeom>
          <a:solidFill>
            <a:srgbClr val="2C5D8A"/>
          </a:solidFill>
          <a:ln w="12700">
            <a:solidFill>
              <a:srgbClr val="2C5D8A"/>
            </a:solidFill>
            <a:prstDash val="solid"/>
          </a:ln>
        </p:spPr>
      </p:sp>
      <p:sp>
        <p:nvSpPr>
          <p:cNvPr id="25" name="Text 23"/>
          <p:cNvSpPr/>
          <p:nvPr/>
        </p:nvSpPr>
        <p:spPr>
          <a:xfrm>
            <a:off x="6355080" y="3758184"/>
            <a:ext cx="109728" cy="10972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26" name="Text 24"/>
          <p:cNvSpPr/>
          <p:nvPr/>
        </p:nvSpPr>
        <p:spPr>
          <a:xfrm>
            <a:off x="6720840" y="3703320"/>
            <a:ext cx="4343400" cy="320040"/>
          </a:xfrm>
          <a:prstGeom prst="rect">
            <a:avLst/>
          </a:prstGeom>
          <a:noFill/>
          <a:ln/>
        </p:spPr>
        <p:txBody>
          <a:bodyPr wrap="square" lIns="0" tIns="0" rIns="0" bIns="0" rtlCol="0" anchor="ctr">
            <a:normAutofit/>
          </a:bodyPr>
          <a:lstStyle/>
          <a:p>
            <a:pPr marL="0" indent="0">
              <a:buNone/>
            </a:pPr>
            <a:r>
              <a:rPr lang="en-US" sz="1420" dirty="0">
                <a:solidFill>
                  <a:srgbClr val="1E1E1E"/>
                </a:solidFill>
              </a:rPr>
              <a:t>Medir tiempo por tarea, calidad y satisfacción</a:t>
            </a:r>
            <a:endParaRPr lang="en-US" sz="1420" dirty="0"/>
          </a:p>
        </p:txBody>
      </p:sp>
      <p:sp>
        <p:nvSpPr>
          <p:cNvPr id="27" name="Shape 25"/>
          <p:cNvSpPr/>
          <p:nvPr/>
        </p:nvSpPr>
        <p:spPr>
          <a:xfrm>
            <a:off x="6254496" y="4261104"/>
            <a:ext cx="310896" cy="310896"/>
          </a:xfrm>
          <a:prstGeom prst="roundRect">
            <a:avLst>
              <a:gd name="adj" fmla="val 17647"/>
            </a:avLst>
          </a:prstGeom>
          <a:solidFill>
            <a:srgbClr val="2C5D8A"/>
          </a:solidFill>
          <a:ln w="12700">
            <a:solidFill>
              <a:srgbClr val="2C5D8A"/>
            </a:solidFill>
            <a:prstDash val="solid"/>
          </a:ln>
        </p:spPr>
      </p:sp>
      <p:sp>
        <p:nvSpPr>
          <p:cNvPr id="28" name="Text 26"/>
          <p:cNvSpPr/>
          <p:nvPr/>
        </p:nvSpPr>
        <p:spPr>
          <a:xfrm>
            <a:off x="6355080" y="4334256"/>
            <a:ext cx="109728" cy="10972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9" name="Text 27"/>
          <p:cNvSpPr/>
          <p:nvPr/>
        </p:nvSpPr>
        <p:spPr>
          <a:xfrm>
            <a:off x="6720840" y="4279392"/>
            <a:ext cx="4343400" cy="320040"/>
          </a:xfrm>
          <a:prstGeom prst="rect">
            <a:avLst/>
          </a:prstGeom>
          <a:noFill/>
          <a:ln/>
        </p:spPr>
        <p:txBody>
          <a:bodyPr wrap="square" lIns="0" tIns="0" rIns="0" bIns="0" rtlCol="0" anchor="ctr">
            <a:normAutofit fontScale="92500"/>
          </a:bodyPr>
          <a:lstStyle/>
          <a:p>
            <a:pPr marL="0" indent="0">
              <a:buNone/>
            </a:pPr>
            <a:r>
              <a:rPr lang="en-US" sz="1420" dirty="0">
                <a:solidFill>
                  <a:srgbClr val="1E1E1E"/>
                </a:solidFill>
              </a:rPr>
              <a:t>Revisar casos ambiguos y necesidades de mantenimiento</a:t>
            </a:r>
            <a:endParaRPr lang="en-US" sz="1420" dirty="0"/>
          </a:p>
        </p:txBody>
      </p:sp>
      <p:sp>
        <p:nvSpPr>
          <p:cNvPr id="30" name="Shape 28"/>
          <p:cNvSpPr/>
          <p:nvPr/>
        </p:nvSpPr>
        <p:spPr>
          <a:xfrm>
            <a:off x="7909560" y="4754880"/>
            <a:ext cx="1600200" cy="420624"/>
          </a:xfrm>
          <a:prstGeom prst="chevron">
            <a:avLst/>
          </a:prstGeom>
          <a:solidFill>
            <a:srgbClr val="E3B341"/>
          </a:solidFill>
          <a:ln w="12700">
            <a:solidFill>
              <a:srgbClr val="E3B341"/>
            </a:solidFill>
            <a:prstDash val="solid"/>
          </a:ln>
        </p:spPr>
      </p:sp>
      <p:sp>
        <p:nvSpPr>
          <p:cNvPr id="31" name="Text 29"/>
          <p:cNvSpPr/>
          <p:nvPr/>
        </p:nvSpPr>
        <p:spPr>
          <a:xfrm>
            <a:off x="8275320" y="4855464"/>
            <a:ext cx="2331720" cy="164592"/>
          </a:xfrm>
          <a:prstGeom prst="rect">
            <a:avLst/>
          </a:prstGeom>
          <a:noFill/>
          <a:ln/>
        </p:spPr>
        <p:txBody>
          <a:bodyPr wrap="square" lIns="0" tIns="0" rIns="0" bIns="0" rtlCol="0" anchor="ctr">
            <a:normAutofit/>
          </a:bodyPr>
          <a:lstStyle/>
          <a:p>
            <a:pPr marL="0" indent="0">
              <a:buNone/>
            </a:pPr>
            <a:r>
              <a:rPr lang="en-US" sz="950" b="1" dirty="0">
                <a:solidFill>
                  <a:srgbClr val="1E1E1E"/>
                </a:solidFill>
              </a:rPr>
              <a:t>DECIDIR ESCALAMIENTO</a:t>
            </a:r>
            <a:endParaRPr lang="en-US" sz="950" dirty="0"/>
          </a:p>
        </p:txBody>
      </p:sp>
      <p:sp>
        <p:nvSpPr>
          <p:cNvPr id="32" name="Text 30"/>
          <p:cNvSpPr/>
          <p:nvPr/>
        </p:nvSpPr>
        <p:spPr>
          <a:xfrm>
            <a:off x="1005840" y="5806440"/>
            <a:ext cx="10241280" cy="384048"/>
          </a:xfrm>
          <a:prstGeom prst="rect">
            <a:avLst/>
          </a:prstGeom>
          <a:noFill/>
          <a:ln/>
        </p:spPr>
        <p:txBody>
          <a:bodyPr wrap="square" lIns="0" tIns="0" rIns="0" bIns="0" rtlCol="0" anchor="ctr">
            <a:normAutofit/>
          </a:bodyPr>
          <a:lstStyle/>
          <a:p>
            <a:pPr marL="0" indent="0" algn="ctr">
              <a:buNone/>
            </a:pPr>
            <a:r>
              <a:rPr lang="en-US" sz="1800" b="1" dirty="0">
                <a:solidFill>
                  <a:srgbClr val="7B1736"/>
                </a:solidFill>
              </a:rPr>
              <a:t>El piloto convierte supuestos de impacto en evidencia del entorno real.</a:t>
            </a:r>
            <a:endParaRPr lang="en-US" sz="1800" dirty="0"/>
          </a:p>
        </p:txBody>
      </p:sp>
      <p:sp>
        <p:nvSpPr>
          <p:cNvPr id="33"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 xmlns:ma14="http://schemas.microsoft.com/office/mac/drawingml/2011/main" val="0"/>
            </a:ext>
          </a:extLst>
        </p:spPr>
        <p:txBody>
          <a:bodyPr/>
          <a:lstStyle>
            <a:lvl1pPr>
              <a:defRPr sz="750">
                <a:solidFill>
                  <a:srgbClr val="6E6E6E"/>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7B173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7B1736"/>
          </a:solidFill>
          <a:ln w="12700">
            <a:solidFill>
              <a:srgbClr val="7B1736"/>
            </a:solidFill>
            <a:prstDash val="solid"/>
          </a:ln>
        </p:spPr>
      </p:sp>
      <p:pic>
        <p:nvPicPr>
          <p:cNvPr id="3" name="Image 0" descr="/mnt/data/_pptx_extract/ppt/media/image1.png"/>
          <p:cNvPicPr>
            <a:picLocks noChangeAspect="1"/>
          </p:cNvPicPr>
          <p:nvPr/>
        </p:nvPicPr>
        <p:blipFill>
          <a:blip r:embed="rId3"/>
          <a:stretch>
            <a:fillRect/>
          </a:stretch>
        </p:blipFill>
        <p:spPr>
          <a:xfrm>
            <a:off x="9738360" y="438912"/>
            <a:ext cx="1828800" cy="1188720"/>
          </a:xfrm>
          <a:prstGeom prst="rect">
            <a:avLst/>
          </a:prstGeom>
        </p:spPr>
      </p:pic>
      <p:sp>
        <p:nvSpPr>
          <p:cNvPr id="4" name="Shape 1"/>
          <p:cNvSpPr/>
          <p:nvPr/>
        </p:nvSpPr>
        <p:spPr>
          <a:xfrm>
            <a:off x="640080" y="941832"/>
            <a:ext cx="749808" cy="73152"/>
          </a:xfrm>
          <a:prstGeom prst="rect">
            <a:avLst/>
          </a:prstGeom>
          <a:solidFill>
            <a:srgbClr val="E3B341"/>
          </a:solidFill>
          <a:ln w="12700">
            <a:solidFill>
              <a:srgbClr val="E3B341"/>
            </a:solidFill>
            <a:prstDash val="solid"/>
          </a:ln>
        </p:spPr>
      </p:sp>
      <p:sp>
        <p:nvSpPr>
          <p:cNvPr id="5" name="Text 2"/>
          <p:cNvSpPr/>
          <p:nvPr/>
        </p:nvSpPr>
        <p:spPr>
          <a:xfrm>
            <a:off x="694944" y="1417320"/>
            <a:ext cx="9784080" cy="548640"/>
          </a:xfrm>
          <a:prstGeom prst="rect">
            <a:avLst/>
          </a:prstGeom>
          <a:noFill/>
          <a:ln/>
        </p:spPr>
        <p:txBody>
          <a:bodyPr wrap="square" lIns="0" tIns="0" rIns="0" bIns="0" rtlCol="0" anchor="ctr"/>
          <a:lstStyle/>
          <a:p>
            <a:pPr marL="0" indent="0">
              <a:buNone/>
            </a:pPr>
            <a:r>
              <a:rPr lang="en-US" sz="2800" b="1" dirty="0">
                <a:solidFill>
                  <a:srgbClr val="E3B341"/>
                </a:solidFill>
              </a:rPr>
              <a:t>No estamos proponiendo otro chatbot.</a:t>
            </a:r>
            <a:endParaRPr lang="en-US" sz="2800" dirty="0"/>
          </a:p>
        </p:txBody>
      </p:sp>
      <p:sp>
        <p:nvSpPr>
          <p:cNvPr id="6" name="Text 3"/>
          <p:cNvSpPr/>
          <p:nvPr/>
        </p:nvSpPr>
        <p:spPr>
          <a:xfrm>
            <a:off x="694944" y="2148840"/>
            <a:ext cx="10241280" cy="1371600"/>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Estamos convirtiendo conocimiento técnico disperso en conocimiento recuperable, verificable y gobernable.</a:t>
            </a:r>
            <a:endParaRPr lang="en-US" sz="3100" dirty="0"/>
          </a:p>
        </p:txBody>
      </p:sp>
      <p:sp>
        <p:nvSpPr>
          <p:cNvPr id="7" name="Shape 4"/>
          <p:cNvSpPr/>
          <p:nvPr/>
        </p:nvSpPr>
        <p:spPr>
          <a:xfrm>
            <a:off x="987552" y="4096512"/>
            <a:ext cx="10076688" cy="1060704"/>
          </a:xfrm>
          <a:prstGeom prst="roundRect">
            <a:avLst>
              <a:gd name="adj" fmla="val 6897"/>
            </a:avLst>
          </a:prstGeom>
          <a:solidFill>
            <a:srgbClr val="FFFFFF">
              <a:alpha val="97000"/>
            </a:srgbClr>
          </a:solidFill>
          <a:ln w="12700">
            <a:solidFill>
              <a:srgbClr val="FFFFFF">
                <a:alpha val="50000"/>
              </a:srgbClr>
            </a:solidFill>
            <a:prstDash val="solid"/>
          </a:ln>
        </p:spPr>
      </p:sp>
      <p:sp>
        <p:nvSpPr>
          <p:cNvPr id="8" name="Text 5"/>
          <p:cNvSpPr/>
          <p:nvPr/>
        </p:nvSpPr>
        <p:spPr>
          <a:xfrm>
            <a:off x="1298448" y="4361688"/>
            <a:ext cx="1554480" cy="219456"/>
          </a:xfrm>
          <a:prstGeom prst="rect">
            <a:avLst/>
          </a:prstGeom>
          <a:noFill/>
          <a:ln/>
        </p:spPr>
        <p:txBody>
          <a:bodyPr wrap="square" lIns="0" tIns="0" rIns="0" bIns="0" rtlCol="0" anchor="ctr"/>
          <a:lstStyle/>
          <a:p>
            <a:pPr marL="0" indent="0">
              <a:buNone/>
            </a:pPr>
            <a:r>
              <a:rPr lang="en-US" sz="1000" b="1" dirty="0">
                <a:solidFill>
                  <a:srgbClr val="7B1736"/>
                </a:solidFill>
              </a:rPr>
              <a:t>PETICIÓN CONCRETA</a:t>
            </a:r>
            <a:endParaRPr lang="en-US" sz="1000" dirty="0"/>
          </a:p>
        </p:txBody>
      </p:sp>
      <p:sp>
        <p:nvSpPr>
          <p:cNvPr id="9" name="Text 6"/>
          <p:cNvSpPr/>
          <p:nvPr/>
        </p:nvSpPr>
        <p:spPr>
          <a:xfrm>
            <a:off x="2788920" y="4242816"/>
            <a:ext cx="7790688" cy="566928"/>
          </a:xfrm>
          <a:prstGeom prst="rect">
            <a:avLst/>
          </a:prstGeom>
          <a:noFill/>
          <a:ln/>
        </p:spPr>
        <p:txBody>
          <a:bodyPr wrap="square" lIns="0" tIns="0" rIns="0" bIns="0" rtlCol="0" anchor="ctr">
            <a:normAutofit/>
          </a:bodyPr>
          <a:lstStyle/>
          <a:p>
            <a:pPr marL="0" indent="0">
              <a:buNone/>
            </a:pPr>
            <a:r>
              <a:rPr lang="en-US" sz="1800" b="1" dirty="0">
                <a:solidFill>
                  <a:srgbClr val="1E1E1E"/>
                </a:solidFill>
              </a:rPr>
              <a:t>Aprobar un piloto controlado con usuarios autorizados, medir el impacto real y decidir el escalamiento con evidencia.</a:t>
            </a:r>
            <a:endParaRPr lang="en-US" sz="1800" dirty="0"/>
          </a:p>
        </p:txBody>
      </p:sp>
      <p:sp>
        <p:nvSpPr>
          <p:cNvPr id="10" name="Text 7"/>
          <p:cNvSpPr/>
          <p:nvPr/>
        </p:nvSpPr>
        <p:spPr>
          <a:xfrm>
            <a:off x="731520" y="6144768"/>
            <a:ext cx="7680960" cy="256032"/>
          </a:xfrm>
          <a:prstGeom prst="rect">
            <a:avLst/>
          </a:prstGeom>
          <a:noFill/>
          <a:ln/>
        </p:spPr>
        <p:txBody>
          <a:bodyPr wrap="square" lIns="0" tIns="0" rIns="0" bIns="0" rtlCol="0" anchor="ctr"/>
          <a:lstStyle/>
          <a:p>
            <a:pPr marL="0" indent="0">
              <a:buNone/>
            </a:pPr>
            <a:r>
              <a:rPr lang="en-US" sz="1050" dirty="0">
                <a:solidFill>
                  <a:srgbClr val="EAD9DF"/>
                </a:solidFill>
              </a:rPr>
              <a:t>José Luis Peñafiel Fernández  ·  Juan Carlos Bajaña Gutiérrez</a:t>
            </a:r>
            <a:endParaRPr lang="en-US" sz="1050" dirty="0"/>
          </a:p>
        </p:txBody>
      </p:sp>
      <p:sp>
        <p:nvSpPr>
          <p:cNvPr id="11" name="Text 8"/>
          <p:cNvSpPr/>
          <p:nvPr/>
        </p:nvSpPr>
        <p:spPr>
          <a:xfrm>
            <a:off x="731520" y="6428232"/>
            <a:ext cx="5120640" cy="201168"/>
          </a:xfrm>
          <a:prstGeom prst="rect">
            <a:avLst/>
          </a:prstGeom>
          <a:noFill/>
          <a:ln/>
        </p:spPr>
        <p:txBody>
          <a:bodyPr wrap="square" lIns="0" tIns="0" rIns="0" bIns="0" rtlCol="0" anchor="ctr"/>
          <a:lstStyle/>
          <a:p>
            <a:pPr marL="0" indent="0">
              <a:buNone/>
            </a:pPr>
            <a:r>
              <a:rPr lang="en-US" sz="850" dirty="0">
                <a:solidFill>
                  <a:srgbClr val="D9BEC7"/>
                </a:solidFill>
              </a:rPr>
              <a:t>Asistente IA DINDES · Grupo 7 · UEES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1424</Words>
  <Application>Microsoft Office PowerPoint</Application>
  <PresentationFormat>Panorámica</PresentationFormat>
  <Paragraphs>97</Paragraphs>
  <Slides>7</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Aptos</vt:lpstr>
      <vt:lpstr>Aptos Display</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de Especialidades Espiritu Santo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5 minutos - Asistente IA DINDES</dc:title>
  <dc:subject>Pitch de 5 minutos - Asistente IA DINDES</dc:subject>
  <dc:creator>Grupo 7 - UEES</dc:creator>
  <cp:lastModifiedBy>juan carlos bajaña gutierrez</cp:lastModifiedBy>
  <cp:revision>3</cp:revision>
  <dcterms:created xsi:type="dcterms:W3CDTF">2026-10-24T19:31:39Z</dcterms:created>
  <dcterms:modified xsi:type="dcterms:W3CDTF">2026-10-28T00:11:48Z</dcterms:modified>
</cp:coreProperties>
</file>